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DC363F-00B2-4F66-8F7E-7885EB89BBAB}" v="10" dt="2026-09-30T18:53:51.9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13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 M Pranav" userId="7d869e96aecfe571" providerId="LiveId" clId="{B65A069A-33A9-4A5A-9720-EABE5CE6D920}"/>
    <pc:docChg chg="undo custSel modSld">
      <pc:chgData name="H M Pranav" userId="7d869e96aecfe571" providerId="LiveId" clId="{B65A069A-33A9-4A5A-9720-EABE5CE6D920}" dt="2026-09-30T18:56:32.118" v="137" actId="1076"/>
      <pc:docMkLst>
        <pc:docMk/>
      </pc:docMkLst>
      <pc:sldChg chg="addSp modSp mod">
        <pc:chgData name="H M Pranav" userId="7d869e96aecfe571" providerId="LiveId" clId="{B65A069A-33A9-4A5A-9720-EABE5CE6D920}" dt="2026-09-30T18:55:17.120" v="124" actId="1035"/>
        <pc:sldMkLst>
          <pc:docMk/>
          <pc:sldMk cId="0" sldId="257"/>
        </pc:sldMkLst>
        <pc:spChg chg="mod">
          <ac:chgData name="H M Pranav" userId="7d869e96aecfe571" providerId="LiveId" clId="{B65A069A-33A9-4A5A-9720-EABE5CE6D920}" dt="2026-09-30T18:55:05.308" v="122" actId="20577"/>
          <ac:spMkLst>
            <pc:docMk/>
            <pc:sldMk cId="0" sldId="257"/>
            <ac:spMk id="7" creationId="{00000000-0000-0000-0000-000000000000}"/>
          </ac:spMkLst>
        </pc:spChg>
        <pc:picChg chg="add mod">
          <ac:chgData name="H M Pranav" userId="7d869e96aecfe571" providerId="LiveId" clId="{B65A069A-33A9-4A5A-9720-EABE5CE6D920}" dt="2026-09-30T18:55:17.120" v="124" actId="1035"/>
          <ac:picMkLst>
            <pc:docMk/>
            <pc:sldMk cId="0" sldId="257"/>
            <ac:picMk id="9" creationId="{4F613DD2-748C-7968-8423-21065D011368}"/>
          </ac:picMkLst>
        </pc:picChg>
      </pc:sldChg>
      <pc:sldChg chg="addSp delSp modSp mod">
        <pc:chgData name="H M Pranav" userId="7d869e96aecfe571" providerId="LiveId" clId="{B65A069A-33A9-4A5A-9720-EABE5CE6D920}" dt="2026-09-30T18:54:25.705" v="108" actId="21"/>
        <pc:sldMkLst>
          <pc:docMk/>
          <pc:sldMk cId="1993237029" sldId="264"/>
        </pc:sldMkLst>
        <pc:spChg chg="add del mod">
          <ac:chgData name="H M Pranav" userId="7d869e96aecfe571" providerId="LiveId" clId="{B65A069A-33A9-4A5A-9720-EABE5CE6D920}" dt="2026-09-30T18:54:12.547" v="103" actId="478"/>
          <ac:spMkLst>
            <pc:docMk/>
            <pc:sldMk cId="1993237029" sldId="264"/>
            <ac:spMk id="15" creationId="{A4F70866-6A8E-B23D-9A78-4212C9F3A81A}"/>
          </ac:spMkLst>
        </pc:spChg>
        <pc:picChg chg="add del mod">
          <ac:chgData name="H M Pranav" userId="7d869e96aecfe571" providerId="LiveId" clId="{B65A069A-33A9-4A5A-9720-EABE5CE6D920}" dt="2026-09-30T18:54:25.705" v="108" actId="21"/>
          <ac:picMkLst>
            <pc:docMk/>
            <pc:sldMk cId="1993237029" sldId="264"/>
            <ac:picMk id="14" creationId="{AE425F84-900F-F816-768B-0E9DD25EE17D}"/>
          </ac:picMkLst>
        </pc:picChg>
      </pc:sldChg>
      <pc:sldChg chg="addSp modSp mod">
        <pc:chgData name="H M Pranav" userId="7d869e96aecfe571" providerId="LiveId" clId="{B65A069A-33A9-4A5A-9720-EABE5CE6D920}" dt="2026-09-30T18:56:32.118" v="137" actId="1076"/>
        <pc:sldMkLst>
          <pc:docMk/>
          <pc:sldMk cId="0" sldId="270"/>
        </pc:sldMkLst>
        <pc:spChg chg="mod">
          <ac:chgData name="H M Pranav" userId="7d869e96aecfe571" providerId="LiveId" clId="{B65A069A-33A9-4A5A-9720-EABE5CE6D920}" dt="2026-09-30T18:49:43.671" v="68" actId="20577"/>
          <ac:spMkLst>
            <pc:docMk/>
            <pc:sldMk cId="0" sldId="270"/>
            <ac:spMk id="31" creationId="{00000000-0000-0000-0000-000000000000}"/>
          </ac:spMkLst>
        </pc:spChg>
        <pc:spChg chg="mod">
          <ac:chgData name="H M Pranav" userId="7d869e96aecfe571" providerId="LiveId" clId="{B65A069A-33A9-4A5A-9720-EABE5CE6D920}" dt="2026-09-30T18:49:50.472" v="76" actId="20577"/>
          <ac:spMkLst>
            <pc:docMk/>
            <pc:sldMk cId="0" sldId="270"/>
            <ac:spMk id="32" creationId="{00000000-0000-0000-0000-000000000000}"/>
          </ac:spMkLst>
        </pc:spChg>
        <pc:spChg chg="mod">
          <ac:chgData name="H M Pranav" userId="7d869e96aecfe571" providerId="LiveId" clId="{B65A069A-33A9-4A5A-9720-EABE5CE6D920}" dt="2026-09-30T18:49:58.997" v="77"/>
          <ac:spMkLst>
            <pc:docMk/>
            <pc:sldMk cId="0" sldId="270"/>
            <ac:spMk id="33" creationId="{00000000-0000-0000-0000-000000000000}"/>
          </ac:spMkLst>
        </pc:spChg>
        <pc:spChg chg="mod">
          <ac:chgData name="H M Pranav" userId="7d869e96aecfe571" providerId="LiveId" clId="{B65A069A-33A9-4A5A-9720-EABE5CE6D920}" dt="2026-09-30T18:53:09.847" v="99" actId="20577"/>
          <ac:spMkLst>
            <pc:docMk/>
            <pc:sldMk cId="0" sldId="270"/>
            <ac:spMk id="34" creationId="{00000000-0000-0000-0000-000000000000}"/>
          </ac:spMkLst>
        </pc:spChg>
        <pc:spChg chg="mod">
          <ac:chgData name="H M Pranav" userId="7d869e96aecfe571" providerId="LiveId" clId="{B65A069A-33A9-4A5A-9720-EABE5CE6D920}" dt="2026-09-30T18:52:36.915" v="98" actId="3626"/>
          <ac:spMkLst>
            <pc:docMk/>
            <pc:sldMk cId="0" sldId="270"/>
            <ac:spMk id="35" creationId="{00000000-0000-0000-0000-000000000000}"/>
          </ac:spMkLst>
        </pc:spChg>
        <pc:picChg chg="add mod">
          <ac:chgData name="H M Pranav" userId="7d869e96aecfe571" providerId="LiveId" clId="{B65A069A-33A9-4A5A-9720-EABE5CE6D920}" dt="2026-09-30T18:56:32.118" v="137" actId="1076"/>
          <ac:picMkLst>
            <pc:docMk/>
            <pc:sldMk cId="0" sldId="270"/>
            <ac:picMk id="4" creationId="{FDF17CC2-FFCC-5B06-5E32-6B106226834F}"/>
          </ac:picMkLst>
        </pc:picChg>
      </pc:sldChg>
      <pc:sldChg chg="addSp modSp mod">
        <pc:chgData name="H M Pranav" userId="7d869e96aecfe571" providerId="LiveId" clId="{B65A069A-33A9-4A5A-9720-EABE5CE6D920}" dt="2026-09-30T18:55:54.149" v="133" actId="1076"/>
        <pc:sldMkLst>
          <pc:docMk/>
          <pc:sldMk cId="180699301" sldId="271"/>
        </pc:sldMkLst>
        <pc:spChg chg="mod">
          <ac:chgData name="H M Pranav" userId="7d869e96aecfe571" providerId="LiveId" clId="{B65A069A-33A9-4A5A-9720-EABE5CE6D920}" dt="2026-09-30T18:48:09.192" v="55" actId="6549"/>
          <ac:spMkLst>
            <pc:docMk/>
            <pc:sldMk cId="180699301" sldId="271"/>
            <ac:spMk id="21" creationId="{00000000-0000-0000-0000-000000000000}"/>
          </ac:spMkLst>
        </pc:spChg>
        <pc:spChg chg="mod">
          <ac:chgData name="H M Pranav" userId="7d869e96aecfe571" providerId="LiveId" clId="{B65A069A-33A9-4A5A-9720-EABE5CE6D920}" dt="2026-09-30T18:55:35.022" v="129" actId="20577"/>
          <ac:spMkLst>
            <pc:docMk/>
            <pc:sldMk cId="180699301" sldId="271"/>
            <ac:spMk id="25" creationId="{00000000-0000-0000-0000-000000000000}"/>
          </ac:spMkLst>
        </pc:spChg>
        <pc:picChg chg="add mod">
          <ac:chgData name="H M Pranav" userId="7d869e96aecfe571" providerId="LiveId" clId="{B65A069A-33A9-4A5A-9720-EABE5CE6D920}" dt="2026-09-30T18:55:54.149" v="133" actId="1076"/>
          <ac:picMkLst>
            <pc:docMk/>
            <pc:sldMk cId="180699301" sldId="271"/>
            <ac:picMk id="27" creationId="{7D43A31B-C46D-ABC3-CA36-F380FB40A09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01-10-2026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01-10-2026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nanthAkshay/Samsung_Gen_AI"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hyperlink" Target="https://commons.wikimedia.org/wiki/Category:GitHub" TargetMode="Externa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rive.google.com/file/d/1fhPArrnkYnQcePrer0aPq9YrS7Pu4-22/view?usp=drivesdk" TargetMode="External"/><Relationship Id="rId1" Type="http://schemas.openxmlformats.org/officeDocument/2006/relationships/slideLayout" Target="../slideLayouts/slideLayout2.xml"/><Relationship Id="rId4" Type="http://schemas.openxmlformats.org/officeDocument/2006/relationships/hyperlink" Target="https://pt.wikipedia.org/wiki/Google_Driv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hub.com/AnanthAkshay/Samsung_Gen_AI" TargetMode="External"/><Relationship Id="rId1" Type="http://schemas.openxmlformats.org/officeDocument/2006/relationships/slideLayout" Target="../slideLayouts/slideLayout2.xml"/><Relationship Id="rId4" Type="http://schemas.openxmlformats.org/officeDocument/2006/relationships/hyperlink" Target="https://commons.wikimedia.org/wiki/Category:GitHub"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github.com/AnanthAkshay/Samsung_Gen_AI" TargetMode="External"/><Relationship Id="rId7" Type="http://schemas.openxmlformats.org/officeDocument/2006/relationships/hyperlink" Target="https://commons.wikimedia.org/wiki/Category:GitHub"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hyperlink" Target="mailto:1ms24is013@msrit.edu" TargetMode="External"/><Relationship Id="rId4" Type="http://schemas.openxmlformats.org/officeDocument/2006/relationships/hyperlink" Target="https://drive.google.com/file/d/1fhPArrnkYnQcePrer0aPq9YrS7Pu4-22/view?usp=drivesdk" TargetMode="External"/><Relationship Id="rId9" Type="http://schemas.openxmlformats.org/officeDocument/2006/relationships/hyperlink" Target="https://pt.wikipedia.org/wiki/Google_Driv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188720"/>
            <a:ext cx="6172200" cy="731520"/>
          </a:xfrm>
          <a:prstGeom prst="rect">
            <a:avLst/>
          </a:prstGeom>
          <a:noFill/>
          <a:ln/>
        </p:spPr>
        <p:txBody>
          <a:bodyPr wrap="square" lIns="0" tIns="0" rIns="0" bIns="0" rtlCol="0" anchor="ctr">
            <a:noAutofit/>
          </a:bodyPr>
          <a:lstStyle/>
          <a:p>
            <a:pPr marL="0" indent="0" algn="l">
              <a:spcAft>
                <a:spcPts val="0"/>
              </a:spcAft>
              <a:buNone/>
            </a:pPr>
            <a:r>
              <a:rPr sz="4200" b="1" i="0">
                <a:solidFill>
                  <a:srgbClr val="14142B"/>
                </a:solidFill>
                <a:latin typeface="Arial"/>
              </a:rPr>
              <a:t>INTERRUPTIBLE</a:t>
            </a:r>
            <a:endParaRPr lang="en-US" sz="5000" dirty="0"/>
          </a:p>
        </p:txBody>
      </p:sp>
      <p:sp>
        <p:nvSpPr>
          <p:cNvPr id="5" name="Text 3"/>
          <p:cNvSpPr txBox="1"/>
          <p:nvPr/>
        </p:nvSpPr>
        <p:spPr>
          <a:xfrm>
            <a:off x="777240" y="1874519"/>
            <a:ext cx="6172200" cy="640080"/>
          </a:xfrm>
          <a:prstGeom prst="rect">
            <a:avLst/>
          </a:prstGeom>
          <a:noFill/>
          <a:ln/>
        </p:spPr>
        <p:txBody>
          <a:bodyPr wrap="square" lIns="0" tIns="0" rIns="0" bIns="0" rtlCol="0" anchor="ctr">
            <a:noAutofit/>
          </a:bodyPr>
          <a:lstStyle/>
          <a:p>
            <a:pPr marL="0" indent="0" algn="l">
              <a:spcAft>
                <a:spcPts val="0"/>
              </a:spcAft>
              <a:buNone/>
            </a:pPr>
            <a:r>
              <a:rPr sz="3000" b="1" i="0">
                <a:solidFill>
                  <a:srgbClr val="6D28D9"/>
                </a:solidFill>
                <a:latin typeface="Arial"/>
              </a:rPr>
              <a:t>REAL-TIME VOICE AGENT</a:t>
            </a:r>
            <a:endParaRPr lang="en-US" sz="5000" dirty="0"/>
          </a:p>
        </p:txBody>
      </p:sp>
      <p:sp>
        <p:nvSpPr>
          <p:cNvPr id="6" name="Text 4"/>
          <p:cNvSpPr txBox="1"/>
          <p:nvPr/>
        </p:nvSpPr>
        <p:spPr>
          <a:xfrm>
            <a:off x="777240" y="2651760"/>
            <a:ext cx="6172200" cy="411480"/>
          </a:xfrm>
          <a:prstGeom prst="rect">
            <a:avLst/>
          </a:prstGeom>
          <a:noFill/>
          <a:ln/>
        </p:spPr>
        <p:txBody>
          <a:bodyPr wrap="square" lIns="0" tIns="0" rIns="0" bIns="0" rtlCol="0" anchor="ctr">
            <a:noAutofit/>
          </a:bodyPr>
          <a:lstStyle/>
          <a:p>
            <a:pPr marL="0" indent="0" algn="l">
              <a:spcAft>
                <a:spcPts val="0"/>
              </a:spcAft>
              <a:buNone/>
            </a:pPr>
            <a:r>
              <a:rPr sz="1800" b="1" i="0">
                <a:solidFill>
                  <a:srgbClr val="14142B"/>
                </a:solidFill>
                <a:latin typeface="Arial"/>
              </a:rPr>
              <a:t>Samsung PRISM — Gen AI Hackathon 3.0</a:t>
            </a:r>
            <a:endParaRPr lang="en-US" sz="2500" dirty="0"/>
          </a:p>
        </p:txBody>
      </p:sp>
      <p:sp>
        <p:nvSpPr>
          <p:cNvPr id="7" name="Text 5"/>
          <p:cNvSpPr txBox="1"/>
          <p:nvPr/>
        </p:nvSpPr>
        <p:spPr>
          <a:xfrm>
            <a:off x="777240" y="3931920"/>
            <a:ext cx="6035040" cy="1920240"/>
          </a:xfrm>
          <a:prstGeom prst="rect">
            <a:avLst/>
          </a:prstGeom>
          <a:noFill/>
          <a:ln/>
        </p:spPr>
        <p:txBody>
          <a:bodyPr wrap="square" lIns="0" tIns="0" rIns="0" bIns="0" rtlCol="0" anchor="t">
            <a:noAutofit/>
          </a:bodyPr>
          <a:lstStyle/>
          <a:p>
            <a:pPr marL="0" indent="0" algn="l">
              <a:spcAft>
                <a:spcPts val="800"/>
              </a:spcAft>
              <a:buNone/>
            </a:pPr>
            <a:r>
              <a:rPr sz="1500" b="1" i="0" dirty="0">
                <a:solidFill>
                  <a:srgbClr val="6D28D9"/>
                </a:solidFill>
                <a:latin typeface="Calibri"/>
              </a:rPr>
              <a:t>Theme 05 — Interruptible Real-Time Agents</a:t>
            </a:r>
          </a:p>
          <a:p>
            <a:pPr marL="0" indent="0" algn="l">
              <a:spcAft>
                <a:spcPts val="500"/>
              </a:spcAft>
              <a:buNone/>
            </a:pPr>
            <a:r>
              <a:rPr sz="1400" b="1" i="0" dirty="0">
                <a:solidFill>
                  <a:srgbClr val="63637E"/>
                </a:solidFill>
                <a:latin typeface="Calibri"/>
              </a:rPr>
              <a:t>Team:  </a:t>
            </a:r>
            <a:r>
              <a:rPr lang="en-US" sz="1400" b="0" i="0" dirty="0">
                <a:solidFill>
                  <a:srgbClr val="63637E"/>
                </a:solidFill>
                <a:latin typeface="Calibri"/>
              </a:rPr>
              <a:t>Cache_Me</a:t>
            </a:r>
            <a:endParaRPr sz="1400" b="0" i="0" dirty="0">
              <a:solidFill>
                <a:srgbClr val="63637E"/>
              </a:solidFill>
              <a:latin typeface="Calibri"/>
            </a:endParaRPr>
          </a:p>
          <a:p>
            <a:pPr marL="0" indent="0" algn="l">
              <a:spcAft>
                <a:spcPts val="500"/>
              </a:spcAft>
              <a:buNone/>
            </a:pPr>
            <a:r>
              <a:rPr sz="1400" b="1" i="0" dirty="0">
                <a:solidFill>
                  <a:srgbClr val="63637E"/>
                </a:solidFill>
                <a:latin typeface="Calibri"/>
              </a:rPr>
              <a:t>College:  </a:t>
            </a:r>
            <a:r>
              <a:rPr sz="1400" b="0" i="0" dirty="0">
                <a:solidFill>
                  <a:srgbClr val="63637E"/>
                </a:solidFill>
                <a:latin typeface="Calibri"/>
              </a:rPr>
              <a:t>M. S. Ramaiah Institute of Technology</a:t>
            </a:r>
            <a:r>
              <a:rPr lang="en-US" sz="1400" b="0" i="0" dirty="0">
                <a:solidFill>
                  <a:srgbClr val="63637E"/>
                </a:solidFill>
                <a:latin typeface="Calibri"/>
              </a:rPr>
              <a:t> (MSRIT)</a:t>
            </a:r>
            <a:endParaRPr sz="1400" b="0" i="0" dirty="0">
              <a:solidFill>
                <a:srgbClr val="63637E"/>
              </a:solidFill>
              <a:latin typeface="Calibri"/>
            </a:endParaRPr>
          </a:p>
          <a:p>
            <a:pPr marL="0" indent="0" algn="l">
              <a:spcAft>
                <a:spcPts val="500"/>
              </a:spcAft>
              <a:buNone/>
            </a:pPr>
            <a:r>
              <a:rPr sz="1400" b="1" i="0" dirty="0">
                <a:solidFill>
                  <a:srgbClr val="63637E"/>
                </a:solidFill>
                <a:latin typeface="Calibri"/>
              </a:rPr>
              <a:t>Members:  </a:t>
            </a:r>
            <a:r>
              <a:rPr lang="en-US" sz="1400" b="0" i="0" dirty="0">
                <a:solidFill>
                  <a:srgbClr val="63637E"/>
                </a:solidFill>
                <a:latin typeface="Calibri"/>
              </a:rPr>
              <a:t>Akshay A </a:t>
            </a:r>
            <a:r>
              <a:rPr sz="1400" b="0" i="0" dirty="0">
                <a:solidFill>
                  <a:srgbClr val="63637E"/>
                </a:solidFill>
                <a:latin typeface="Calibri"/>
              </a:rPr>
              <a:t>· </a:t>
            </a:r>
            <a:r>
              <a:rPr lang="en-US" sz="1400" b="0" i="0" dirty="0">
                <a:solidFill>
                  <a:srgbClr val="63637E"/>
                </a:solidFill>
                <a:latin typeface="Calibri"/>
              </a:rPr>
              <a:t>Aaditya V </a:t>
            </a:r>
            <a:r>
              <a:rPr sz="1400" b="0" i="0" dirty="0">
                <a:solidFill>
                  <a:srgbClr val="63637E"/>
                </a:solidFill>
                <a:latin typeface="Calibri"/>
              </a:rPr>
              <a:t>· </a:t>
            </a:r>
            <a:r>
              <a:rPr lang="en-US" sz="1400" b="0" i="0" dirty="0">
                <a:solidFill>
                  <a:srgbClr val="63637E"/>
                </a:solidFill>
                <a:latin typeface="Calibri"/>
              </a:rPr>
              <a:t>H M Pranav</a:t>
            </a:r>
            <a:r>
              <a:rPr sz="1400" b="0" i="0" dirty="0">
                <a:solidFill>
                  <a:srgbClr val="63637E"/>
                </a:solidFill>
                <a:latin typeface="Calibri"/>
              </a:rPr>
              <a:t> · </a:t>
            </a:r>
            <a:r>
              <a:rPr lang="en-US" sz="1400" b="0" i="0" dirty="0">
                <a:solidFill>
                  <a:srgbClr val="63637E"/>
                </a:solidFill>
                <a:latin typeface="Calibri"/>
              </a:rPr>
              <a:t>Tejas M</a:t>
            </a:r>
            <a:endParaRPr sz="1400" b="0" i="0" dirty="0">
              <a:solidFill>
                <a:srgbClr val="63637E"/>
              </a:solidFill>
              <a:latin typeface="Calibri"/>
            </a:endParaRPr>
          </a:p>
          <a:p>
            <a:pPr>
              <a:spcAft>
                <a:spcPts val="500"/>
              </a:spcAft>
            </a:pPr>
            <a:r>
              <a:rPr sz="1400" b="1" i="0" dirty="0">
                <a:solidFill>
                  <a:srgbClr val="63637E"/>
                </a:solidFill>
                <a:latin typeface="Calibri"/>
              </a:rPr>
              <a:t>GitHub:  </a:t>
            </a:r>
            <a:r>
              <a:rPr lang="en-US" sz="1400" b="1" dirty="0">
                <a:solidFill>
                  <a:srgbClr val="63637E"/>
                </a:solidFill>
                <a:latin typeface="Calibri"/>
              </a:rPr>
              <a:t>      </a:t>
            </a:r>
            <a:r>
              <a:rPr lang="en-IN" sz="1400" dirty="0">
                <a:solidFill>
                  <a:srgbClr val="63637E"/>
                </a:solidFill>
                <a:hlinkClick r:id="rId3"/>
              </a:rPr>
              <a:t>https://github.com/AnanthAkshay/Samsung_Gen_AI</a:t>
            </a:r>
            <a:endParaRPr sz="1400" b="0" i="0" dirty="0">
              <a:solidFill>
                <a:srgbClr val="63637E"/>
              </a:solidFill>
              <a:latin typeface="Calibri"/>
            </a:endParaRPr>
          </a:p>
        </p:txBody>
      </p:sp>
      <p:pic>
        <p:nvPicPr>
          <p:cNvPr id="14" name="Image 0" descr="hero_network.png"/>
          <p:cNvPicPr>
            <a:picLocks noChangeAspect="1"/>
          </p:cNvPicPr>
          <p:nvPr/>
        </p:nvPicPr>
        <p:blipFill>
          <a:blip r:embed="rId4"/>
          <a:stretch>
            <a:fillRect/>
          </a:stretch>
        </p:blipFill>
        <p:spPr>
          <a:xfrm>
            <a:off x="7059168" y="1051560"/>
            <a:ext cx="4572000" cy="4572000"/>
          </a:xfrm>
          <a:prstGeom prst="rect">
            <a:avLst/>
          </a:prstGeom>
        </p:spPr>
      </p:pic>
      <p:sp>
        <p:nvSpPr>
          <p:cNvPr id="15" name="TextBox 14"/>
          <p:cNvSpPr txBox="1"/>
          <p:nvPr/>
        </p:nvSpPr>
        <p:spPr>
          <a:xfrm>
            <a:off x="777240" y="3154680"/>
            <a:ext cx="6035040" cy="594360"/>
          </a:xfrm>
          <a:prstGeom prst="rect">
            <a:avLst/>
          </a:prstGeom>
          <a:noFill/>
        </p:spPr>
        <p:txBody>
          <a:bodyPr wrap="square" lIns="0" tIns="0" rIns="0" bIns="0" anchor="t">
            <a:noAutofit/>
          </a:bodyPr>
          <a:lstStyle/>
          <a:p>
            <a:pPr marL="0" indent="0" algn="l">
              <a:spcAft>
                <a:spcPts val="400"/>
              </a:spcAft>
              <a:buNone/>
            </a:pPr>
            <a:r>
              <a:rPr sz="1600" b="0" i="1">
                <a:solidFill>
                  <a:srgbClr val="63637E"/>
                </a:solidFill>
                <a:latin typeface="Calibri"/>
              </a:rPr>
              <a:t>Natural conversation. Realtime response. Intent that can change.</a:t>
            </a:r>
          </a:p>
        </p:txBody>
      </p:sp>
      <p:pic>
        <p:nvPicPr>
          <p:cNvPr id="9" name="Picture 8">
            <a:extLst>
              <a:ext uri="{FF2B5EF4-FFF2-40B4-BE49-F238E27FC236}">
                <a16:creationId xmlns:a16="http://schemas.microsoft.com/office/drawing/2014/main" id="{4F613DD2-748C-7968-8423-21065D011368}"/>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1433023" y="5112690"/>
            <a:ext cx="186855" cy="1868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548640" y="320040"/>
            <a:ext cx="11091672" cy="777240"/>
          </a:xfrm>
        </p:spPr>
        <p:txBody>
          <a:bodyPr wrap="square" anchor="ctr">
            <a:noAutofit/>
          </a:bodyPr>
          <a:lstStyle/>
          <a:p>
            <a:pPr marL="0" indent="0" algn="l">
              <a:spcAft>
                <a:spcPts val="0"/>
              </a:spcAft>
              <a:buNone/>
            </a:pPr>
            <a:r>
              <a:rPr sz="2800" b="1" i="0">
                <a:solidFill>
                  <a:srgbClr val="704EA6"/>
                </a:solidFill>
                <a:latin typeface="Calibri"/>
              </a:rPr>
              <a:t>THEME 05 — INTERRUPTIBLE REAL-TIME AGENTS</a:t>
            </a:r>
          </a:p>
        </p:txBody>
      </p:sp>
      <p:sp>
        <p:nvSpPr>
          <p:cNvPr id="3" name="TextBox 2"/>
          <p:cNvSpPr txBox="1"/>
          <p:nvPr/>
        </p:nvSpPr>
        <p:spPr>
          <a:xfrm>
            <a:off x="548640" y="1371600"/>
            <a:ext cx="11091672" cy="868680"/>
          </a:xfrm>
          <a:prstGeom prst="rect">
            <a:avLst/>
          </a:prstGeom>
          <a:noFill/>
        </p:spPr>
        <p:txBody>
          <a:bodyPr wrap="square" lIns="0" tIns="0" rIns="0" bIns="0" anchor="ctr">
            <a:noAutofit/>
          </a:bodyPr>
          <a:lstStyle/>
          <a:p>
            <a:pPr marL="0" indent="0" algn="l">
              <a:spcAft>
                <a:spcPts val="400"/>
              </a:spcAft>
              <a:buNone/>
            </a:pPr>
            <a:r>
              <a:rPr sz="3800" b="1" i="0">
                <a:solidFill>
                  <a:srgbClr val="14142B"/>
                </a:solidFill>
                <a:latin typeface="Arial"/>
              </a:rPr>
              <a:t>Human conversation is not turn-based.</a:t>
            </a:r>
          </a:p>
        </p:txBody>
      </p:sp>
      <p:sp>
        <p:nvSpPr>
          <p:cNvPr id="4" name="Rounded Rectangle 3"/>
          <p:cNvSpPr/>
          <p:nvPr/>
        </p:nvSpPr>
        <p:spPr>
          <a:xfrm>
            <a:off x="548640" y="2514600"/>
            <a:ext cx="3547872" cy="251460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600"/>
              </a:spcAft>
              <a:buNone/>
            </a:pPr>
            <a:r>
              <a:rPr sz="3400" b="1" i="0">
                <a:solidFill>
                  <a:srgbClr val="6D28D9"/>
                </a:solidFill>
                <a:latin typeface="Arial"/>
              </a:rPr>
              <a:t>01</a:t>
            </a:r>
          </a:p>
          <a:p>
            <a:pPr marL="0" indent="0" algn="l">
              <a:spcAft>
                <a:spcPts val="800"/>
              </a:spcAft>
              <a:buNone/>
            </a:pPr>
            <a:r>
              <a:rPr sz="1800" b="1" i="0">
                <a:solidFill>
                  <a:srgbClr val="14142B"/>
                </a:solidFill>
                <a:latin typeface="Arial"/>
              </a:rPr>
              <a:t>RESPONSIVENESS</a:t>
            </a:r>
          </a:p>
          <a:p>
            <a:pPr marL="0" indent="0" algn="l">
              <a:spcAft>
                <a:spcPts val="400"/>
              </a:spcAft>
              <a:buNone/>
            </a:pPr>
            <a:r>
              <a:rPr sz="1600" b="0" i="0">
                <a:solidFill>
                  <a:srgbClr val="63637E"/>
                </a:solidFill>
                <a:latin typeface="Calibri"/>
              </a:rPr>
              <a:t>Meaningful spoken feedback should begin quickly.</a:t>
            </a:r>
          </a:p>
        </p:txBody>
      </p:sp>
      <p:sp>
        <p:nvSpPr>
          <p:cNvPr id="5" name="Rounded Rectangle 4"/>
          <p:cNvSpPr/>
          <p:nvPr/>
        </p:nvSpPr>
        <p:spPr>
          <a:xfrm>
            <a:off x="4320540" y="2514600"/>
            <a:ext cx="3547872" cy="251460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600"/>
              </a:spcAft>
              <a:buNone/>
            </a:pPr>
            <a:r>
              <a:rPr sz="3400" b="1" i="0">
                <a:solidFill>
                  <a:srgbClr val="6D28D9"/>
                </a:solidFill>
                <a:latin typeface="Arial"/>
              </a:rPr>
              <a:t>02</a:t>
            </a:r>
          </a:p>
          <a:p>
            <a:pPr marL="0" indent="0" algn="l">
              <a:spcAft>
                <a:spcPts val="800"/>
              </a:spcAft>
              <a:buNone/>
            </a:pPr>
            <a:r>
              <a:rPr sz="1800" b="1" i="0">
                <a:solidFill>
                  <a:srgbClr val="14142B"/>
                </a:solidFill>
                <a:latin typeface="Arial"/>
              </a:rPr>
              <a:t>INTERRUPTION RECOVERY</a:t>
            </a:r>
          </a:p>
          <a:p>
            <a:pPr marL="0" indent="0" algn="l">
              <a:spcAft>
                <a:spcPts val="400"/>
              </a:spcAft>
              <a:buNone/>
            </a:pPr>
            <a:r>
              <a:rPr sz="1600" b="0" i="0">
                <a:solidFill>
                  <a:srgbClr val="63637E"/>
                </a:solidFill>
                <a:latin typeface="Calibri"/>
              </a:rPr>
              <a:t>The agent must handle users speaking over, correcting, or redirecting an ongoing request.</a:t>
            </a:r>
          </a:p>
        </p:txBody>
      </p:sp>
      <p:sp>
        <p:nvSpPr>
          <p:cNvPr id="6" name="Rounded Rectangle 5"/>
          <p:cNvSpPr/>
          <p:nvPr/>
        </p:nvSpPr>
        <p:spPr>
          <a:xfrm>
            <a:off x="8092440" y="2514600"/>
            <a:ext cx="3547872" cy="251460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600"/>
              </a:spcAft>
              <a:buNone/>
            </a:pPr>
            <a:r>
              <a:rPr sz="3400" b="1" i="0">
                <a:solidFill>
                  <a:srgbClr val="6D28D9"/>
                </a:solidFill>
                <a:latin typeface="Arial"/>
              </a:rPr>
              <a:t>03</a:t>
            </a:r>
          </a:p>
          <a:p>
            <a:pPr marL="0" indent="0" algn="l">
              <a:spcAft>
                <a:spcPts val="800"/>
              </a:spcAft>
              <a:buNone/>
            </a:pPr>
            <a:r>
              <a:rPr sz="1800" b="1" i="0">
                <a:solidFill>
                  <a:srgbClr val="14142B"/>
                </a:solidFill>
                <a:latin typeface="Arial"/>
              </a:rPr>
              <a:t>ASYNCHRONOUS WORK</a:t>
            </a:r>
          </a:p>
          <a:p>
            <a:pPr marL="0" indent="0" algn="l">
              <a:spcAft>
                <a:spcPts val="400"/>
              </a:spcAft>
              <a:buNone/>
            </a:pPr>
            <a:r>
              <a:rPr sz="1600" b="0" i="0">
                <a:solidFill>
                  <a:srgbClr val="63637E"/>
                </a:solidFill>
                <a:latin typeface="Calibri"/>
              </a:rPr>
              <a:t>Tools, perception and reasoning should not unnecessarily block conversation.</a:t>
            </a:r>
          </a:p>
        </p:txBody>
      </p:sp>
      <p:sp>
        <p:nvSpPr>
          <p:cNvPr id="7" name="Rounded Rectangle 6"/>
          <p:cNvSpPr/>
          <p:nvPr/>
        </p:nvSpPr>
        <p:spPr>
          <a:xfrm>
            <a:off x="548640" y="5349240"/>
            <a:ext cx="11091672" cy="822960"/>
          </a:xfrm>
          <a:prstGeom prst="roundRect">
            <a:avLst>
              <a:gd name="adj" fmla="val 12000"/>
            </a:avLst>
          </a:prstGeom>
          <a:solidFill>
            <a:srgbClr val="6D28D9"/>
          </a:solidFill>
          <a:ln>
            <a:noFill/>
          </a:ln>
        </p:spPr>
        <p:txBody>
          <a:bodyPr wrap="square" lIns="274320" rIns="274320" rtlCol="0" anchor="ctr">
            <a:noAutofit/>
          </a:bodyPr>
          <a:lstStyle/>
          <a:p>
            <a:pPr marL="0" indent="0" algn="ctr">
              <a:spcAft>
                <a:spcPts val="400"/>
              </a:spcAft>
              <a:buNone/>
            </a:pPr>
            <a:r>
              <a:rPr sz="2000" b="1" i="0">
                <a:solidFill>
                  <a:srgbClr val="FFFFFF"/>
                </a:solidFill>
                <a:latin typeface="Arial"/>
              </a:rPr>
              <a:t>The goal is not simply faster speech — it is conversational continuity.</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548640" y="320040"/>
            <a:ext cx="11091672" cy="777240"/>
          </a:xfrm>
        </p:spPr>
        <p:txBody>
          <a:bodyPr wrap="square" anchor="ctr">
            <a:noAutofit/>
          </a:bodyPr>
          <a:lstStyle/>
          <a:p>
            <a:pPr marL="0" indent="0" algn="l">
              <a:spcAft>
                <a:spcPts val="0"/>
              </a:spcAft>
              <a:buNone/>
            </a:pPr>
            <a:r>
              <a:rPr sz="2800" b="1" i="0">
                <a:solidFill>
                  <a:srgbClr val="704EA6"/>
                </a:solidFill>
                <a:latin typeface="Calibri"/>
              </a:rPr>
              <a:t>EXISTING APPROACHES BREAK THE CONVERSATION LOOP</a:t>
            </a:r>
          </a:p>
        </p:txBody>
      </p:sp>
      <p:sp>
        <p:nvSpPr>
          <p:cNvPr id="3" name="Rounded Rectangle 2"/>
          <p:cNvSpPr/>
          <p:nvPr/>
        </p:nvSpPr>
        <p:spPr>
          <a:xfrm>
            <a:off x="548640" y="1371600"/>
            <a:ext cx="5440680" cy="3977639"/>
          </a:xfrm>
          <a:prstGeom prst="roundRect">
            <a:avLst>
              <a:gd name="adj" fmla="val 6000"/>
            </a:avLst>
          </a:prstGeom>
          <a:solidFill>
            <a:srgbClr val="F7F7FA"/>
          </a:solidFill>
          <a:ln w="12700">
            <a:solidFill>
              <a:srgbClr val="E0E0E8"/>
            </a:solidFill>
          </a:ln>
        </p:spPr>
        <p:txBody>
          <a:bodyPr wrap="square" lIns="201168" tIns="182880" rIns="201168" bIns="182880" rtlCol="0" anchor="t">
            <a:noAutofit/>
          </a:bodyPr>
          <a:lstStyle/>
          <a:p>
            <a:pPr marL="0" indent="0" algn="l">
              <a:spcAft>
                <a:spcPts val="400"/>
              </a:spcAft>
              <a:buNone/>
            </a:pPr>
            <a:endParaRPr/>
          </a:p>
        </p:txBody>
      </p:sp>
      <p:sp>
        <p:nvSpPr>
          <p:cNvPr id="4" name="TextBox 3"/>
          <p:cNvSpPr txBox="1"/>
          <p:nvPr/>
        </p:nvSpPr>
        <p:spPr>
          <a:xfrm>
            <a:off x="777240" y="1536192"/>
            <a:ext cx="4983480" cy="365760"/>
          </a:xfrm>
          <a:prstGeom prst="rect">
            <a:avLst/>
          </a:prstGeom>
          <a:noFill/>
        </p:spPr>
        <p:txBody>
          <a:bodyPr wrap="square" lIns="0" tIns="0" rIns="0" bIns="0" anchor="t">
            <a:noAutofit/>
          </a:bodyPr>
          <a:lstStyle/>
          <a:p>
            <a:pPr marL="0" indent="0" algn="l">
              <a:spcAft>
                <a:spcPts val="400"/>
              </a:spcAft>
              <a:buNone/>
            </a:pPr>
            <a:r>
              <a:rPr sz="1600" b="1" i="0">
                <a:solidFill>
                  <a:srgbClr val="14142B"/>
                </a:solidFill>
                <a:latin typeface="Arial"/>
              </a:rPr>
              <a:t>CASCADED VOICE PIPELINE</a:t>
            </a:r>
          </a:p>
        </p:txBody>
      </p:sp>
      <p:sp>
        <p:nvSpPr>
          <p:cNvPr id="5" name="Rounded Rectangle 4"/>
          <p:cNvSpPr/>
          <p:nvPr/>
        </p:nvSpPr>
        <p:spPr>
          <a:xfrm>
            <a:off x="708659" y="2057400"/>
            <a:ext cx="822960" cy="502920"/>
          </a:xfrm>
          <a:prstGeom prst="roundRect">
            <a:avLst>
              <a:gd name="adj" fmla="val 20000"/>
            </a:avLst>
          </a:prstGeom>
          <a:solidFill>
            <a:srgbClr val="FFFFFF"/>
          </a:solidFill>
          <a:ln w="15875">
            <a:solidFill>
              <a:srgbClr val="9A9AB0"/>
            </a:solidFill>
          </a:ln>
        </p:spPr>
        <p:txBody>
          <a:bodyPr wrap="square" lIns="45720" tIns="27432" rIns="45720" bIns="27432" rtlCol="0" anchor="ctr">
            <a:noAutofit/>
          </a:bodyPr>
          <a:lstStyle/>
          <a:p>
            <a:pPr marL="0" indent="0" algn="ctr">
              <a:spcAft>
                <a:spcPts val="0"/>
              </a:spcAft>
              <a:buNone/>
            </a:pPr>
            <a:r>
              <a:rPr sz="1200" b="1" i="0">
                <a:solidFill>
                  <a:srgbClr val="14142B"/>
                </a:solidFill>
                <a:latin typeface="Arial"/>
              </a:rPr>
              <a:t>Audio</a:t>
            </a:r>
          </a:p>
        </p:txBody>
      </p:sp>
      <p:cxnSp>
        <p:nvCxnSpPr>
          <p:cNvPr id="6" name="Connector 5"/>
          <p:cNvCxnSpPr/>
          <p:nvPr/>
        </p:nvCxnSpPr>
        <p:spPr>
          <a:xfrm>
            <a:off x="1568195" y="2308860"/>
            <a:ext cx="178308" cy="0"/>
          </a:xfrm>
          <a:prstGeom prst="line">
            <a:avLst/>
          </a:prstGeom>
          <a:ln w="19050">
            <a:solidFill>
              <a:srgbClr val="9A9AB0"/>
            </a:solidFill>
            <a:tailEnd type="triangle"/>
          </a:ln>
        </p:spPr>
      </p:cxnSp>
      <p:sp>
        <p:nvSpPr>
          <p:cNvPr id="7" name="Rounded Rectangle 6"/>
          <p:cNvSpPr/>
          <p:nvPr/>
        </p:nvSpPr>
        <p:spPr>
          <a:xfrm>
            <a:off x="1783080" y="2057400"/>
            <a:ext cx="822960" cy="502920"/>
          </a:xfrm>
          <a:prstGeom prst="roundRect">
            <a:avLst>
              <a:gd name="adj" fmla="val 20000"/>
            </a:avLst>
          </a:prstGeom>
          <a:solidFill>
            <a:srgbClr val="FFFFFF"/>
          </a:solidFill>
          <a:ln w="15875">
            <a:solidFill>
              <a:srgbClr val="9A9AB0"/>
            </a:solidFill>
          </a:ln>
        </p:spPr>
        <p:txBody>
          <a:bodyPr wrap="square" lIns="45720" tIns="27432" rIns="45720" bIns="27432" rtlCol="0" anchor="ctr">
            <a:noAutofit/>
          </a:bodyPr>
          <a:lstStyle/>
          <a:p>
            <a:pPr marL="0" indent="0" algn="ctr">
              <a:spcAft>
                <a:spcPts val="0"/>
              </a:spcAft>
              <a:buNone/>
            </a:pPr>
            <a:r>
              <a:rPr sz="1200" b="1" i="0">
                <a:solidFill>
                  <a:srgbClr val="14142B"/>
                </a:solidFill>
                <a:latin typeface="Arial"/>
              </a:rPr>
              <a:t>ASR</a:t>
            </a:r>
          </a:p>
        </p:txBody>
      </p:sp>
      <p:cxnSp>
        <p:nvCxnSpPr>
          <p:cNvPr id="8" name="Connector 7"/>
          <p:cNvCxnSpPr/>
          <p:nvPr/>
        </p:nvCxnSpPr>
        <p:spPr>
          <a:xfrm>
            <a:off x="2642616" y="2308860"/>
            <a:ext cx="178308" cy="0"/>
          </a:xfrm>
          <a:prstGeom prst="line">
            <a:avLst/>
          </a:prstGeom>
          <a:ln w="19050">
            <a:solidFill>
              <a:srgbClr val="9A9AB0"/>
            </a:solidFill>
            <a:tailEnd type="triangle"/>
          </a:ln>
        </p:spPr>
      </p:cxnSp>
      <p:sp>
        <p:nvSpPr>
          <p:cNvPr id="9" name="Rounded Rectangle 8"/>
          <p:cNvSpPr/>
          <p:nvPr/>
        </p:nvSpPr>
        <p:spPr>
          <a:xfrm>
            <a:off x="2857500" y="2057400"/>
            <a:ext cx="822960" cy="502920"/>
          </a:xfrm>
          <a:prstGeom prst="roundRect">
            <a:avLst>
              <a:gd name="adj" fmla="val 20000"/>
            </a:avLst>
          </a:prstGeom>
          <a:solidFill>
            <a:srgbClr val="FFFFFF"/>
          </a:solidFill>
          <a:ln w="15875">
            <a:solidFill>
              <a:srgbClr val="9A9AB0"/>
            </a:solidFill>
          </a:ln>
        </p:spPr>
        <p:txBody>
          <a:bodyPr wrap="square" lIns="45720" tIns="27432" rIns="45720" bIns="27432" rtlCol="0" anchor="ctr">
            <a:noAutofit/>
          </a:bodyPr>
          <a:lstStyle/>
          <a:p>
            <a:pPr marL="0" indent="0" algn="ctr">
              <a:spcAft>
                <a:spcPts val="0"/>
              </a:spcAft>
              <a:buNone/>
            </a:pPr>
            <a:r>
              <a:rPr sz="1200" b="1" i="0">
                <a:solidFill>
                  <a:srgbClr val="14142B"/>
                </a:solidFill>
                <a:latin typeface="Arial"/>
              </a:rPr>
              <a:t>LLM</a:t>
            </a:r>
          </a:p>
        </p:txBody>
      </p:sp>
      <p:cxnSp>
        <p:nvCxnSpPr>
          <p:cNvPr id="10" name="Connector 9"/>
          <p:cNvCxnSpPr/>
          <p:nvPr/>
        </p:nvCxnSpPr>
        <p:spPr>
          <a:xfrm>
            <a:off x="3717036" y="2308860"/>
            <a:ext cx="178308" cy="0"/>
          </a:xfrm>
          <a:prstGeom prst="line">
            <a:avLst/>
          </a:prstGeom>
          <a:ln w="19050">
            <a:solidFill>
              <a:srgbClr val="9A9AB0"/>
            </a:solidFill>
            <a:tailEnd type="triangle"/>
          </a:ln>
        </p:spPr>
      </p:cxnSp>
      <p:sp>
        <p:nvSpPr>
          <p:cNvPr id="11" name="Rounded Rectangle 10"/>
          <p:cNvSpPr/>
          <p:nvPr/>
        </p:nvSpPr>
        <p:spPr>
          <a:xfrm>
            <a:off x="3931920" y="2057400"/>
            <a:ext cx="822960" cy="502920"/>
          </a:xfrm>
          <a:prstGeom prst="roundRect">
            <a:avLst>
              <a:gd name="adj" fmla="val 20000"/>
            </a:avLst>
          </a:prstGeom>
          <a:solidFill>
            <a:srgbClr val="FFFFFF"/>
          </a:solidFill>
          <a:ln w="15875">
            <a:solidFill>
              <a:srgbClr val="9A9AB0"/>
            </a:solidFill>
          </a:ln>
        </p:spPr>
        <p:txBody>
          <a:bodyPr wrap="square" lIns="45720" tIns="27432" rIns="45720" bIns="27432" rtlCol="0" anchor="ctr">
            <a:noAutofit/>
          </a:bodyPr>
          <a:lstStyle/>
          <a:p>
            <a:pPr marL="0" indent="0" algn="ctr">
              <a:spcAft>
                <a:spcPts val="0"/>
              </a:spcAft>
              <a:buNone/>
            </a:pPr>
            <a:r>
              <a:rPr sz="1200" b="1" i="0">
                <a:solidFill>
                  <a:srgbClr val="14142B"/>
                </a:solidFill>
                <a:latin typeface="Arial"/>
              </a:rPr>
              <a:t>TTS</a:t>
            </a:r>
          </a:p>
        </p:txBody>
      </p:sp>
      <p:cxnSp>
        <p:nvCxnSpPr>
          <p:cNvPr id="12" name="Connector 11"/>
          <p:cNvCxnSpPr/>
          <p:nvPr/>
        </p:nvCxnSpPr>
        <p:spPr>
          <a:xfrm>
            <a:off x="4791456" y="2308860"/>
            <a:ext cx="178308" cy="0"/>
          </a:xfrm>
          <a:prstGeom prst="line">
            <a:avLst/>
          </a:prstGeom>
          <a:ln w="19050">
            <a:solidFill>
              <a:srgbClr val="9A9AB0"/>
            </a:solidFill>
            <a:tailEnd type="triangle"/>
          </a:ln>
        </p:spPr>
      </p:cxnSp>
      <p:sp>
        <p:nvSpPr>
          <p:cNvPr id="13" name="Rounded Rectangle 12"/>
          <p:cNvSpPr/>
          <p:nvPr/>
        </p:nvSpPr>
        <p:spPr>
          <a:xfrm>
            <a:off x="5006340" y="2057400"/>
            <a:ext cx="822960" cy="502920"/>
          </a:xfrm>
          <a:prstGeom prst="roundRect">
            <a:avLst>
              <a:gd name="adj" fmla="val 20000"/>
            </a:avLst>
          </a:prstGeom>
          <a:solidFill>
            <a:srgbClr val="FFFFFF"/>
          </a:solidFill>
          <a:ln w="15875">
            <a:solidFill>
              <a:srgbClr val="9A9AB0"/>
            </a:solidFill>
          </a:ln>
        </p:spPr>
        <p:txBody>
          <a:bodyPr wrap="square" lIns="45720" tIns="27432" rIns="45720" bIns="27432" rtlCol="0" anchor="ctr">
            <a:noAutofit/>
          </a:bodyPr>
          <a:lstStyle/>
          <a:p>
            <a:pPr marL="0" indent="0" algn="ctr">
              <a:spcAft>
                <a:spcPts val="0"/>
              </a:spcAft>
              <a:buNone/>
            </a:pPr>
            <a:r>
              <a:rPr sz="1200" b="1" i="0">
                <a:solidFill>
                  <a:srgbClr val="14142B"/>
                </a:solidFill>
                <a:latin typeface="Arial"/>
              </a:rPr>
              <a:t>Audio</a:t>
            </a:r>
          </a:p>
        </p:txBody>
      </p:sp>
      <p:sp>
        <p:nvSpPr>
          <p:cNvPr id="14" name="TextBox 13"/>
          <p:cNvSpPr txBox="1"/>
          <p:nvPr/>
        </p:nvSpPr>
        <p:spPr>
          <a:xfrm>
            <a:off x="777240" y="2788920"/>
            <a:ext cx="4983480" cy="274320"/>
          </a:xfrm>
          <a:prstGeom prst="rect">
            <a:avLst/>
          </a:prstGeom>
          <a:noFill/>
        </p:spPr>
        <p:txBody>
          <a:bodyPr wrap="square" lIns="0" tIns="0" rIns="0" bIns="0" anchor="t">
            <a:noAutofit/>
          </a:bodyPr>
          <a:lstStyle/>
          <a:p>
            <a:pPr marL="0" indent="0" algn="l">
              <a:spcAft>
                <a:spcPts val="400"/>
              </a:spcAft>
              <a:buNone/>
            </a:pPr>
            <a:r>
              <a:rPr sz="1100" b="1" i="0">
                <a:solidFill>
                  <a:srgbClr val="B45309"/>
                </a:solidFill>
                <a:latin typeface="Arial"/>
              </a:rPr>
              <a:t>PROBLEMS</a:t>
            </a:r>
          </a:p>
        </p:txBody>
      </p:sp>
      <p:sp>
        <p:nvSpPr>
          <p:cNvPr id="15" name="TextBox 14"/>
          <p:cNvSpPr txBox="1"/>
          <p:nvPr/>
        </p:nvSpPr>
        <p:spPr>
          <a:xfrm>
            <a:off x="777240" y="3108960"/>
            <a:ext cx="4983480" cy="2103120"/>
          </a:xfrm>
          <a:prstGeom prst="rect">
            <a:avLst/>
          </a:prstGeom>
          <a:noFill/>
        </p:spPr>
        <p:txBody>
          <a:bodyPr wrap="square" lIns="0" tIns="0" rIns="0" bIns="0" anchor="t">
            <a:noAutofit/>
          </a:bodyPr>
          <a:lstStyle/>
          <a:p>
            <a:pPr marL="182880" indent="-182880" algn="l">
              <a:spcAft>
                <a:spcPts val="800"/>
              </a:spcAft>
              <a:buClr>
                <a:srgbClr val="B45309"/>
              </a:buClr>
              <a:buChar char="•"/>
            </a:pPr>
            <a:r>
              <a:rPr sz="1600" b="0" i="0">
                <a:solidFill>
                  <a:srgbClr val="63637E"/>
                </a:solidFill>
                <a:latin typeface="Calibri"/>
              </a:rPr>
              <a:t>Multiple processing stages</a:t>
            </a:r>
          </a:p>
          <a:p>
            <a:pPr marL="182880" indent="-182880" algn="l">
              <a:spcAft>
                <a:spcPts val="800"/>
              </a:spcAft>
              <a:buClr>
                <a:srgbClr val="B45309"/>
              </a:buClr>
              <a:buChar char="•"/>
            </a:pPr>
            <a:r>
              <a:rPr sz="1600" b="0" i="0">
                <a:solidFill>
                  <a:srgbClr val="63637E"/>
                </a:solidFill>
                <a:latin typeface="Calibri"/>
              </a:rPr>
              <a:t>Turn-boundary dependence</a:t>
            </a:r>
          </a:p>
          <a:p>
            <a:pPr marL="182880" indent="-182880" algn="l">
              <a:spcAft>
                <a:spcPts val="800"/>
              </a:spcAft>
              <a:buClr>
                <a:srgbClr val="B45309"/>
              </a:buClr>
              <a:buChar char="•"/>
            </a:pPr>
            <a:r>
              <a:rPr sz="1600" b="0" i="0">
                <a:solidFill>
                  <a:srgbClr val="63637E"/>
                </a:solidFill>
                <a:latin typeface="Calibri"/>
              </a:rPr>
              <a:t>Interruption coordination becomes harder</a:t>
            </a:r>
          </a:p>
          <a:p>
            <a:pPr marL="182880" indent="-182880" algn="l">
              <a:spcAft>
                <a:spcPts val="800"/>
              </a:spcAft>
              <a:buClr>
                <a:srgbClr val="B45309"/>
              </a:buClr>
              <a:buChar char="•"/>
            </a:pPr>
            <a:r>
              <a:rPr sz="1600" b="0" i="0">
                <a:solidFill>
                  <a:srgbClr val="63637E"/>
                </a:solidFill>
                <a:latin typeface="Calibri"/>
              </a:rPr>
              <a:t>Latency accumulates across stages</a:t>
            </a:r>
          </a:p>
        </p:txBody>
      </p:sp>
      <p:sp>
        <p:nvSpPr>
          <p:cNvPr id="16" name="Rounded Rectangle 15"/>
          <p:cNvSpPr/>
          <p:nvPr/>
        </p:nvSpPr>
        <p:spPr>
          <a:xfrm>
            <a:off x="6199632" y="1371600"/>
            <a:ext cx="5440680" cy="3977639"/>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400"/>
              </a:spcAft>
              <a:buNone/>
            </a:pPr>
            <a:endParaRPr/>
          </a:p>
        </p:txBody>
      </p:sp>
      <p:sp>
        <p:nvSpPr>
          <p:cNvPr id="17" name="TextBox 16"/>
          <p:cNvSpPr txBox="1"/>
          <p:nvPr/>
        </p:nvSpPr>
        <p:spPr>
          <a:xfrm>
            <a:off x="6428232" y="1536192"/>
            <a:ext cx="4983480" cy="365760"/>
          </a:xfrm>
          <a:prstGeom prst="rect">
            <a:avLst/>
          </a:prstGeom>
          <a:noFill/>
        </p:spPr>
        <p:txBody>
          <a:bodyPr wrap="square" lIns="0" tIns="0" rIns="0" bIns="0" anchor="t">
            <a:noAutofit/>
          </a:bodyPr>
          <a:lstStyle/>
          <a:p>
            <a:pPr marL="0" indent="0" algn="l">
              <a:spcAft>
                <a:spcPts val="400"/>
              </a:spcAft>
              <a:buNone/>
            </a:pPr>
            <a:r>
              <a:rPr sz="1600" b="1" i="0">
                <a:solidFill>
                  <a:srgbClr val="6D28D9"/>
                </a:solidFill>
                <a:latin typeface="Arial"/>
              </a:rPr>
              <a:t>NATIVE REALTIME AUDIO</a:t>
            </a:r>
          </a:p>
        </p:txBody>
      </p:sp>
      <p:sp>
        <p:nvSpPr>
          <p:cNvPr id="18" name="Rounded Rectangle 17"/>
          <p:cNvSpPr/>
          <p:nvPr/>
        </p:nvSpPr>
        <p:spPr>
          <a:xfrm>
            <a:off x="6405372" y="2057400"/>
            <a:ext cx="1188720" cy="502920"/>
          </a:xfrm>
          <a:prstGeom prst="roundRect">
            <a:avLst>
              <a:gd name="adj" fmla="val 20000"/>
            </a:avLst>
          </a:prstGeom>
          <a:solidFill>
            <a:srgbClr val="FFFFFF"/>
          </a:solidFill>
          <a:ln w="15875">
            <a:solidFill>
              <a:srgbClr val="6D28D9"/>
            </a:solidFill>
          </a:ln>
        </p:spPr>
        <p:txBody>
          <a:bodyPr wrap="square" lIns="45720" tIns="27432" rIns="45720" bIns="27432" rtlCol="0" anchor="ctr">
            <a:noAutofit/>
          </a:bodyPr>
          <a:lstStyle/>
          <a:p>
            <a:pPr marL="0" indent="0" algn="ctr">
              <a:spcAft>
                <a:spcPts val="0"/>
              </a:spcAft>
              <a:buNone/>
            </a:pPr>
            <a:r>
              <a:rPr sz="1200" b="1" i="0">
                <a:solidFill>
                  <a:srgbClr val="14142B"/>
                </a:solidFill>
                <a:latin typeface="Arial"/>
              </a:rPr>
              <a:t>Audio</a:t>
            </a:r>
          </a:p>
        </p:txBody>
      </p:sp>
      <p:cxnSp>
        <p:nvCxnSpPr>
          <p:cNvPr id="19" name="Connector 18"/>
          <p:cNvCxnSpPr/>
          <p:nvPr/>
        </p:nvCxnSpPr>
        <p:spPr>
          <a:xfrm>
            <a:off x="7630668" y="2308860"/>
            <a:ext cx="384048" cy="0"/>
          </a:xfrm>
          <a:prstGeom prst="line">
            <a:avLst/>
          </a:prstGeom>
          <a:ln w="22225">
            <a:solidFill>
              <a:srgbClr val="6D28D9"/>
            </a:solidFill>
            <a:headEnd type="triangle"/>
            <a:tailEnd type="triangle"/>
          </a:ln>
        </p:spPr>
      </p:cxnSp>
      <p:sp>
        <p:nvSpPr>
          <p:cNvPr id="20" name="Rounded Rectangle 19"/>
          <p:cNvSpPr/>
          <p:nvPr/>
        </p:nvSpPr>
        <p:spPr>
          <a:xfrm>
            <a:off x="8051292" y="2057400"/>
            <a:ext cx="1737360" cy="502920"/>
          </a:xfrm>
          <a:prstGeom prst="roundRect">
            <a:avLst>
              <a:gd name="adj" fmla="val 20000"/>
            </a:avLst>
          </a:prstGeom>
          <a:solidFill>
            <a:srgbClr val="6D28D9"/>
          </a:solidFill>
          <a:ln w="15875">
            <a:solidFill>
              <a:srgbClr val="6D28D9"/>
            </a:solidFill>
          </a:ln>
        </p:spPr>
        <p:txBody>
          <a:bodyPr wrap="square" lIns="45720" tIns="27432" rIns="45720" bIns="27432" rtlCol="0" anchor="ctr">
            <a:noAutofit/>
          </a:bodyPr>
          <a:lstStyle/>
          <a:p>
            <a:pPr marL="0" indent="0" algn="ctr">
              <a:spcAft>
                <a:spcPts val="0"/>
              </a:spcAft>
              <a:buNone/>
            </a:pPr>
            <a:r>
              <a:rPr sz="1200" b="1" i="0">
                <a:solidFill>
                  <a:srgbClr val="FFFFFF"/>
                </a:solidFill>
                <a:latin typeface="Arial"/>
              </a:rPr>
              <a:t>Realtime Model</a:t>
            </a:r>
          </a:p>
        </p:txBody>
      </p:sp>
      <p:cxnSp>
        <p:nvCxnSpPr>
          <p:cNvPr id="21" name="Connector 20"/>
          <p:cNvCxnSpPr/>
          <p:nvPr/>
        </p:nvCxnSpPr>
        <p:spPr>
          <a:xfrm>
            <a:off x="9825228" y="2308860"/>
            <a:ext cx="384048" cy="0"/>
          </a:xfrm>
          <a:prstGeom prst="line">
            <a:avLst/>
          </a:prstGeom>
          <a:ln w="22225">
            <a:solidFill>
              <a:srgbClr val="6D28D9"/>
            </a:solidFill>
            <a:headEnd type="triangle"/>
            <a:tailEnd type="triangle"/>
          </a:ln>
        </p:spPr>
      </p:cxnSp>
      <p:sp>
        <p:nvSpPr>
          <p:cNvPr id="22" name="Rounded Rectangle 21"/>
          <p:cNvSpPr/>
          <p:nvPr/>
        </p:nvSpPr>
        <p:spPr>
          <a:xfrm>
            <a:off x="10245852" y="2057400"/>
            <a:ext cx="1188720" cy="502920"/>
          </a:xfrm>
          <a:prstGeom prst="roundRect">
            <a:avLst>
              <a:gd name="adj" fmla="val 20000"/>
            </a:avLst>
          </a:prstGeom>
          <a:solidFill>
            <a:srgbClr val="FFFFFF"/>
          </a:solidFill>
          <a:ln w="15875">
            <a:solidFill>
              <a:srgbClr val="6D28D9"/>
            </a:solidFill>
          </a:ln>
        </p:spPr>
        <p:txBody>
          <a:bodyPr wrap="square" lIns="45720" tIns="27432" rIns="45720" bIns="27432" rtlCol="0" anchor="ctr">
            <a:noAutofit/>
          </a:bodyPr>
          <a:lstStyle/>
          <a:p>
            <a:pPr marL="0" indent="0" algn="ctr">
              <a:spcAft>
                <a:spcPts val="0"/>
              </a:spcAft>
              <a:buNone/>
            </a:pPr>
            <a:r>
              <a:rPr sz="1200" b="1" i="0">
                <a:solidFill>
                  <a:srgbClr val="14142B"/>
                </a:solidFill>
                <a:latin typeface="Arial"/>
              </a:rPr>
              <a:t>Tools</a:t>
            </a:r>
          </a:p>
        </p:txBody>
      </p:sp>
      <p:sp>
        <p:nvSpPr>
          <p:cNvPr id="23" name="TextBox 22"/>
          <p:cNvSpPr txBox="1"/>
          <p:nvPr/>
        </p:nvSpPr>
        <p:spPr>
          <a:xfrm>
            <a:off x="6428232" y="2788920"/>
            <a:ext cx="4983480" cy="274320"/>
          </a:xfrm>
          <a:prstGeom prst="rect">
            <a:avLst/>
          </a:prstGeom>
          <a:noFill/>
        </p:spPr>
        <p:txBody>
          <a:bodyPr wrap="square" lIns="0" tIns="0" rIns="0" bIns="0" anchor="t">
            <a:noAutofit/>
          </a:bodyPr>
          <a:lstStyle/>
          <a:p>
            <a:pPr marL="0" indent="0" algn="l">
              <a:spcAft>
                <a:spcPts val="400"/>
              </a:spcAft>
              <a:buNone/>
            </a:pPr>
            <a:r>
              <a:rPr sz="1100" b="1" i="0">
                <a:solidFill>
                  <a:srgbClr val="6D28D9"/>
                </a:solidFill>
                <a:latin typeface="Arial"/>
              </a:rPr>
              <a:t>ADVANTAGES</a:t>
            </a:r>
          </a:p>
        </p:txBody>
      </p:sp>
      <p:sp>
        <p:nvSpPr>
          <p:cNvPr id="24" name="TextBox 23"/>
          <p:cNvSpPr txBox="1"/>
          <p:nvPr/>
        </p:nvSpPr>
        <p:spPr>
          <a:xfrm>
            <a:off x="6428232" y="3108960"/>
            <a:ext cx="4983480" cy="2103120"/>
          </a:xfrm>
          <a:prstGeom prst="rect">
            <a:avLst/>
          </a:prstGeom>
          <a:noFill/>
        </p:spPr>
        <p:txBody>
          <a:bodyPr wrap="square" lIns="0" tIns="0" rIns="0" bIns="0" anchor="t">
            <a:noAutofit/>
          </a:bodyPr>
          <a:lstStyle/>
          <a:p>
            <a:pPr marL="182880" indent="-182880" algn="l">
              <a:spcAft>
                <a:spcPts val="800"/>
              </a:spcAft>
              <a:buClr>
                <a:srgbClr val="6D28D9"/>
              </a:buClr>
              <a:buChar char="•"/>
            </a:pPr>
            <a:r>
              <a:rPr sz="1600" b="0" i="0">
                <a:solidFill>
                  <a:srgbClr val="63637E"/>
                </a:solidFill>
                <a:latin typeface="Calibri"/>
              </a:rPr>
              <a:t>Native audio understanding</a:t>
            </a:r>
          </a:p>
          <a:p>
            <a:pPr marL="182880" indent="-182880" algn="l">
              <a:spcAft>
                <a:spcPts val="800"/>
              </a:spcAft>
              <a:buClr>
                <a:srgbClr val="6D28D9"/>
              </a:buClr>
              <a:buChar char="•"/>
            </a:pPr>
            <a:r>
              <a:rPr sz="1600" b="0" i="0">
                <a:solidFill>
                  <a:srgbClr val="63637E"/>
                </a:solidFill>
                <a:latin typeface="Calibri"/>
              </a:rPr>
              <a:t>Native audio generation</a:t>
            </a:r>
          </a:p>
          <a:p>
            <a:pPr marL="182880" indent="-182880" algn="l">
              <a:spcAft>
                <a:spcPts val="800"/>
              </a:spcAft>
              <a:buClr>
                <a:srgbClr val="6D28D9"/>
              </a:buClr>
              <a:buChar char="•"/>
            </a:pPr>
            <a:r>
              <a:rPr sz="1600" b="0" i="0">
                <a:solidFill>
                  <a:srgbClr val="63637E"/>
                </a:solidFill>
                <a:latin typeface="Calibri"/>
              </a:rPr>
              <a:t>Realtime conversational loop</a:t>
            </a:r>
          </a:p>
          <a:p>
            <a:pPr marL="182880" indent="-182880" algn="l">
              <a:spcAft>
                <a:spcPts val="800"/>
              </a:spcAft>
              <a:buClr>
                <a:srgbClr val="6D28D9"/>
              </a:buClr>
              <a:buChar char="•"/>
            </a:pPr>
            <a:r>
              <a:rPr sz="1600" b="0" i="0">
                <a:solidFill>
                  <a:srgbClr val="63637E"/>
                </a:solidFill>
                <a:latin typeface="Calibri"/>
              </a:rPr>
              <a:t>Direct tool interaction</a:t>
            </a:r>
          </a:p>
          <a:p>
            <a:pPr marL="182880" indent="-182880" algn="l">
              <a:spcAft>
                <a:spcPts val="800"/>
              </a:spcAft>
              <a:buClr>
                <a:srgbClr val="6D28D9"/>
              </a:buClr>
              <a:buChar char="•"/>
            </a:pPr>
            <a:r>
              <a:rPr sz="1600" b="0" i="0">
                <a:solidFill>
                  <a:srgbClr val="63637E"/>
                </a:solidFill>
                <a:latin typeface="Calibri"/>
              </a:rPr>
              <a:t>Better foundation for barge-in handling</a:t>
            </a:r>
          </a:p>
        </p:txBody>
      </p:sp>
      <p:sp>
        <p:nvSpPr>
          <p:cNvPr id="25" name="Rounded Rectangle 24"/>
          <p:cNvSpPr/>
          <p:nvPr/>
        </p:nvSpPr>
        <p:spPr>
          <a:xfrm>
            <a:off x="548640" y="5577840"/>
            <a:ext cx="11091672" cy="868680"/>
          </a:xfrm>
          <a:prstGeom prst="roundRect">
            <a:avLst>
              <a:gd name="adj" fmla="val 12000"/>
            </a:avLst>
          </a:prstGeom>
          <a:solidFill>
            <a:srgbClr val="6D28D9"/>
          </a:solidFill>
          <a:ln>
            <a:noFill/>
          </a:ln>
        </p:spPr>
        <p:txBody>
          <a:bodyPr wrap="square" lIns="274320" rIns="274320" rtlCol="0" anchor="ctr">
            <a:noAutofit/>
          </a:bodyPr>
          <a:lstStyle/>
          <a:p>
            <a:pPr marL="0" indent="0" algn="ctr">
              <a:spcAft>
                <a:spcPts val="400"/>
              </a:spcAft>
              <a:buNone/>
            </a:pPr>
            <a:r>
              <a:rPr sz="1600" b="1" i="0">
                <a:solidFill>
                  <a:srgbClr val="FFFFFF"/>
                </a:solidFill>
                <a:latin typeface="Arial"/>
              </a:rPr>
              <a:t>Our approach starts with a native realtime model instead of rebuilding realtime conversation around a cascaded pipeline.</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548640" y="320040"/>
            <a:ext cx="11091672" cy="777240"/>
          </a:xfrm>
        </p:spPr>
        <p:txBody>
          <a:bodyPr wrap="square" anchor="ctr">
            <a:noAutofit/>
          </a:bodyPr>
          <a:lstStyle/>
          <a:p>
            <a:pPr marL="0" indent="0" algn="l">
              <a:spcAft>
                <a:spcPts val="0"/>
              </a:spcAft>
              <a:buNone/>
            </a:pPr>
            <a:r>
              <a:rPr sz="2800" b="1" i="0">
                <a:solidFill>
                  <a:srgbClr val="704EA6"/>
                </a:solidFill>
                <a:latin typeface="Calibri"/>
              </a:rPr>
              <a:t>OUR SOLUTION — NATIVE REALTIME TOOL AGENT</a:t>
            </a:r>
          </a:p>
        </p:txBody>
      </p:sp>
      <p:sp>
        <p:nvSpPr>
          <p:cNvPr id="3" name="Rounded Rectangle 2"/>
          <p:cNvSpPr/>
          <p:nvPr/>
        </p:nvSpPr>
        <p:spPr>
          <a:xfrm>
            <a:off x="612648" y="1371600"/>
            <a:ext cx="1828800" cy="868680"/>
          </a:xfrm>
          <a:prstGeom prst="roundRect">
            <a:avLst>
              <a:gd name="adj" fmla="val 15000"/>
            </a:avLst>
          </a:prstGeom>
          <a:solidFill>
            <a:srgbClr val="FFFFFF"/>
          </a:solidFill>
          <a:ln w="15875">
            <a:solidFill>
              <a:srgbClr val="6D28D9"/>
            </a:solidFill>
          </a:ln>
        </p:spPr>
        <p:txBody>
          <a:bodyPr wrap="square" lIns="45720" tIns="27432" rIns="45720" bIns="27432" rtlCol="0" anchor="ctr">
            <a:noAutofit/>
          </a:bodyPr>
          <a:lstStyle/>
          <a:p>
            <a:pPr marL="0" indent="0" algn="ctr">
              <a:spcAft>
                <a:spcPts val="0"/>
              </a:spcAft>
              <a:buNone/>
            </a:pPr>
            <a:r>
              <a:rPr sz="1300" b="1" i="0">
                <a:solidFill>
                  <a:srgbClr val="14142B"/>
                </a:solidFill>
                <a:latin typeface="Arial"/>
              </a:rPr>
              <a:t>USER VOICE</a:t>
            </a:r>
          </a:p>
        </p:txBody>
      </p:sp>
      <p:cxnSp>
        <p:nvCxnSpPr>
          <p:cNvPr id="4" name="Connector 3"/>
          <p:cNvCxnSpPr/>
          <p:nvPr/>
        </p:nvCxnSpPr>
        <p:spPr>
          <a:xfrm>
            <a:off x="2478024" y="1805940"/>
            <a:ext cx="384048" cy="0"/>
          </a:xfrm>
          <a:prstGeom prst="line">
            <a:avLst/>
          </a:prstGeom>
          <a:ln w="25400">
            <a:solidFill>
              <a:srgbClr val="6D28D9"/>
            </a:solidFill>
            <a:tailEnd type="triangle"/>
          </a:ln>
        </p:spPr>
      </p:cxnSp>
      <p:sp>
        <p:nvSpPr>
          <p:cNvPr id="5" name="Rounded Rectangle 4"/>
          <p:cNvSpPr/>
          <p:nvPr/>
        </p:nvSpPr>
        <p:spPr>
          <a:xfrm>
            <a:off x="2898648" y="1371600"/>
            <a:ext cx="1828800" cy="868680"/>
          </a:xfrm>
          <a:prstGeom prst="roundRect">
            <a:avLst>
              <a:gd name="adj" fmla="val 15000"/>
            </a:avLst>
          </a:prstGeom>
          <a:solidFill>
            <a:srgbClr val="FFFFFF"/>
          </a:solidFill>
          <a:ln w="15875">
            <a:solidFill>
              <a:srgbClr val="6D28D9"/>
            </a:solidFill>
          </a:ln>
        </p:spPr>
        <p:txBody>
          <a:bodyPr wrap="square" lIns="45720" tIns="27432" rIns="45720" bIns="27432" rtlCol="0" anchor="ctr">
            <a:noAutofit/>
          </a:bodyPr>
          <a:lstStyle/>
          <a:p>
            <a:pPr marL="0" indent="0" algn="ctr">
              <a:spcAft>
                <a:spcPts val="0"/>
              </a:spcAft>
              <a:buNone/>
            </a:pPr>
            <a:r>
              <a:rPr sz="1300" b="1" i="0">
                <a:solidFill>
                  <a:srgbClr val="14142B"/>
                </a:solidFill>
                <a:latin typeface="Arial"/>
              </a:rPr>
              <a:t>LIVEKIT RTC</a:t>
            </a:r>
          </a:p>
        </p:txBody>
      </p:sp>
      <p:cxnSp>
        <p:nvCxnSpPr>
          <p:cNvPr id="6" name="Connector 5"/>
          <p:cNvCxnSpPr/>
          <p:nvPr/>
        </p:nvCxnSpPr>
        <p:spPr>
          <a:xfrm>
            <a:off x="4764024" y="1805940"/>
            <a:ext cx="384048" cy="0"/>
          </a:xfrm>
          <a:prstGeom prst="line">
            <a:avLst/>
          </a:prstGeom>
          <a:ln w="25400">
            <a:solidFill>
              <a:srgbClr val="6D28D9"/>
            </a:solidFill>
            <a:tailEnd type="triangle"/>
          </a:ln>
        </p:spPr>
      </p:cxnSp>
      <p:sp>
        <p:nvSpPr>
          <p:cNvPr id="7" name="Rounded Rectangle 6"/>
          <p:cNvSpPr/>
          <p:nvPr/>
        </p:nvSpPr>
        <p:spPr>
          <a:xfrm>
            <a:off x="5184648" y="1371600"/>
            <a:ext cx="1828800" cy="868680"/>
          </a:xfrm>
          <a:prstGeom prst="roundRect">
            <a:avLst>
              <a:gd name="adj" fmla="val 15000"/>
            </a:avLst>
          </a:prstGeom>
          <a:solidFill>
            <a:srgbClr val="6D28D9"/>
          </a:solidFill>
          <a:ln w="15875">
            <a:solidFill>
              <a:srgbClr val="6D28D9"/>
            </a:solidFill>
          </a:ln>
        </p:spPr>
        <p:txBody>
          <a:bodyPr wrap="square" lIns="45720" tIns="27432" rIns="45720" bIns="27432" rtlCol="0" anchor="ctr">
            <a:noAutofit/>
          </a:bodyPr>
          <a:lstStyle/>
          <a:p>
            <a:pPr marL="0" indent="0" algn="ctr">
              <a:spcAft>
                <a:spcPts val="0"/>
              </a:spcAft>
              <a:buNone/>
            </a:pPr>
            <a:r>
              <a:rPr sz="1300" b="1" i="0">
                <a:solidFill>
                  <a:srgbClr val="FFFFFF"/>
                </a:solidFill>
                <a:latin typeface="Arial"/>
              </a:rPr>
              <a:t>GEMINI 2.5 FLASH</a:t>
            </a:r>
          </a:p>
          <a:p>
            <a:pPr marL="0" indent="0" algn="ctr">
              <a:spcAft>
                <a:spcPts val="0"/>
              </a:spcAft>
              <a:buNone/>
            </a:pPr>
            <a:r>
              <a:rPr sz="1000" b="0" i="0">
                <a:solidFill>
                  <a:srgbClr val="FFFFFF"/>
                </a:solidFill>
                <a:latin typeface="Calibri"/>
              </a:rPr>
              <a:t>NATIVE AUDIO REALTIME</a:t>
            </a:r>
          </a:p>
        </p:txBody>
      </p:sp>
      <p:cxnSp>
        <p:nvCxnSpPr>
          <p:cNvPr id="8" name="Connector 7"/>
          <p:cNvCxnSpPr/>
          <p:nvPr/>
        </p:nvCxnSpPr>
        <p:spPr>
          <a:xfrm>
            <a:off x="7050024" y="1805940"/>
            <a:ext cx="384048" cy="0"/>
          </a:xfrm>
          <a:prstGeom prst="line">
            <a:avLst/>
          </a:prstGeom>
          <a:ln w="25400">
            <a:solidFill>
              <a:srgbClr val="6D28D9"/>
            </a:solidFill>
            <a:tailEnd type="triangle"/>
          </a:ln>
        </p:spPr>
      </p:cxnSp>
      <p:sp>
        <p:nvSpPr>
          <p:cNvPr id="9" name="Rounded Rectangle 8"/>
          <p:cNvSpPr/>
          <p:nvPr/>
        </p:nvSpPr>
        <p:spPr>
          <a:xfrm>
            <a:off x="7470648" y="1371600"/>
            <a:ext cx="1828800" cy="868680"/>
          </a:xfrm>
          <a:prstGeom prst="roundRect">
            <a:avLst>
              <a:gd name="adj" fmla="val 15000"/>
            </a:avLst>
          </a:prstGeom>
          <a:solidFill>
            <a:srgbClr val="FFFFFF"/>
          </a:solidFill>
          <a:ln w="15875">
            <a:solidFill>
              <a:srgbClr val="6D28D9"/>
            </a:solidFill>
          </a:ln>
        </p:spPr>
        <p:txBody>
          <a:bodyPr wrap="square" lIns="45720" tIns="27432" rIns="45720" bIns="27432" rtlCol="0" anchor="ctr">
            <a:noAutofit/>
          </a:bodyPr>
          <a:lstStyle/>
          <a:p>
            <a:pPr marL="0" indent="0" algn="ctr">
              <a:spcAft>
                <a:spcPts val="0"/>
              </a:spcAft>
              <a:buNone/>
            </a:pPr>
            <a:r>
              <a:rPr sz="1300" b="1" i="0">
                <a:solidFill>
                  <a:srgbClr val="14142B"/>
                </a:solidFill>
                <a:latin typeface="Arial"/>
              </a:rPr>
              <a:t>AGENT SESSION</a:t>
            </a:r>
          </a:p>
        </p:txBody>
      </p:sp>
      <p:cxnSp>
        <p:nvCxnSpPr>
          <p:cNvPr id="10" name="Connector 9"/>
          <p:cNvCxnSpPr/>
          <p:nvPr/>
        </p:nvCxnSpPr>
        <p:spPr>
          <a:xfrm>
            <a:off x="9336024" y="1805940"/>
            <a:ext cx="384048" cy="0"/>
          </a:xfrm>
          <a:prstGeom prst="line">
            <a:avLst/>
          </a:prstGeom>
          <a:ln w="25400">
            <a:solidFill>
              <a:srgbClr val="6D28D9"/>
            </a:solidFill>
            <a:tailEnd type="triangle"/>
          </a:ln>
        </p:spPr>
      </p:cxnSp>
      <p:sp>
        <p:nvSpPr>
          <p:cNvPr id="11" name="Rounded Rectangle 10"/>
          <p:cNvSpPr/>
          <p:nvPr/>
        </p:nvSpPr>
        <p:spPr>
          <a:xfrm>
            <a:off x="9756648" y="1371600"/>
            <a:ext cx="1828800" cy="868680"/>
          </a:xfrm>
          <a:prstGeom prst="roundRect">
            <a:avLst>
              <a:gd name="adj" fmla="val 15000"/>
            </a:avLst>
          </a:prstGeom>
          <a:solidFill>
            <a:srgbClr val="FFFFFF"/>
          </a:solidFill>
          <a:ln w="15875">
            <a:solidFill>
              <a:srgbClr val="6D28D9"/>
            </a:solidFill>
          </a:ln>
        </p:spPr>
        <p:txBody>
          <a:bodyPr wrap="square" lIns="45720" tIns="27432" rIns="45720" bIns="27432" rtlCol="0" anchor="ctr">
            <a:noAutofit/>
          </a:bodyPr>
          <a:lstStyle/>
          <a:p>
            <a:pPr marL="0" indent="0" algn="ctr">
              <a:spcAft>
                <a:spcPts val="0"/>
              </a:spcAft>
              <a:buNone/>
            </a:pPr>
            <a:r>
              <a:rPr sz="1200" b="1" i="0">
                <a:solidFill>
                  <a:srgbClr val="14142B"/>
                </a:solidFill>
                <a:latin typeface="Arial"/>
              </a:rPr>
              <a:t>FUNCTION / TOOL SELECTION</a:t>
            </a:r>
          </a:p>
        </p:txBody>
      </p:sp>
      <p:sp>
        <p:nvSpPr>
          <p:cNvPr id="12" name="Rounded Rectangle 11"/>
          <p:cNvSpPr/>
          <p:nvPr/>
        </p:nvSpPr>
        <p:spPr>
          <a:xfrm>
            <a:off x="612648" y="2834640"/>
            <a:ext cx="4526280" cy="2423160"/>
          </a:xfrm>
          <a:prstGeom prst="roundRect">
            <a:avLst>
              <a:gd name="adj" fmla="val 6000"/>
            </a:avLst>
          </a:prstGeom>
          <a:solidFill>
            <a:srgbClr val="14142B"/>
          </a:solidFill>
          <a:ln>
            <a:noFill/>
          </a:ln>
        </p:spPr>
        <p:txBody>
          <a:bodyPr wrap="square" lIns="274320" tIns="182880" rIns="274320" bIns="182880" rtlCol="0" anchor="ctr">
            <a:noAutofit/>
          </a:bodyPr>
          <a:lstStyle/>
          <a:p>
            <a:pPr marL="0" indent="0" algn="ctr">
              <a:spcAft>
                <a:spcPts val="1000"/>
              </a:spcAft>
              <a:buNone/>
            </a:pPr>
            <a:r>
              <a:rPr sz="2600" b="1" i="0">
                <a:solidFill>
                  <a:srgbClr val="FFFFFF"/>
                </a:solidFill>
                <a:latin typeface="Arial"/>
              </a:rPr>
              <a:t>END-TO-END AUDIO</a:t>
            </a:r>
          </a:p>
          <a:p>
            <a:pPr marL="0" indent="0" algn="ctr">
              <a:spcAft>
                <a:spcPts val="400"/>
              </a:spcAft>
              <a:buNone/>
            </a:pPr>
            <a:r>
              <a:rPr sz="1600" b="0" i="0">
                <a:solidFill>
                  <a:srgbClr val="D9D3F0"/>
                </a:solidFill>
                <a:latin typeface="Calibri"/>
              </a:rPr>
              <a:t>No separate ASR → LLM → TTS cascade</a:t>
            </a:r>
          </a:p>
        </p:txBody>
      </p:sp>
      <p:sp>
        <p:nvSpPr>
          <p:cNvPr id="13" name="Rounded Rectangle 12"/>
          <p:cNvSpPr/>
          <p:nvPr/>
        </p:nvSpPr>
        <p:spPr>
          <a:xfrm>
            <a:off x="5669280" y="2834640"/>
            <a:ext cx="5916168" cy="1188720"/>
          </a:xfrm>
          <a:prstGeom prst="roundRect">
            <a:avLst>
              <a:gd name="adj" fmla="val 8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400"/>
              </a:spcAft>
              <a:buNone/>
            </a:pPr>
            <a:endParaRPr/>
          </a:p>
        </p:txBody>
      </p:sp>
      <p:sp>
        <p:nvSpPr>
          <p:cNvPr id="14" name="TextBox 13"/>
          <p:cNvSpPr txBox="1"/>
          <p:nvPr/>
        </p:nvSpPr>
        <p:spPr>
          <a:xfrm>
            <a:off x="5852160" y="2907792"/>
            <a:ext cx="5550407" cy="320040"/>
          </a:xfrm>
          <a:prstGeom prst="rect">
            <a:avLst/>
          </a:prstGeom>
          <a:noFill/>
        </p:spPr>
        <p:txBody>
          <a:bodyPr wrap="square" lIns="0" tIns="0" rIns="0" bIns="0" anchor="t">
            <a:noAutofit/>
          </a:bodyPr>
          <a:lstStyle/>
          <a:p>
            <a:pPr marL="0" indent="0" algn="ctr">
              <a:spcAft>
                <a:spcPts val="400"/>
              </a:spcAft>
              <a:buNone/>
            </a:pPr>
            <a:r>
              <a:rPr sz="1400" b="1" i="0">
                <a:solidFill>
                  <a:srgbClr val="6D28D9"/>
                </a:solidFill>
                <a:latin typeface="Arial"/>
              </a:rPr>
              <a:t>12 MOCK APIs</a:t>
            </a:r>
          </a:p>
        </p:txBody>
      </p:sp>
      <p:sp>
        <p:nvSpPr>
          <p:cNvPr id="15" name="Rounded Rectangle 14"/>
          <p:cNvSpPr/>
          <p:nvPr/>
        </p:nvSpPr>
        <p:spPr>
          <a:xfrm>
            <a:off x="5833872" y="3337560"/>
            <a:ext cx="1280160" cy="502920"/>
          </a:xfrm>
          <a:prstGeom prst="roundRect">
            <a:avLst>
              <a:gd name="adj" fmla="val 20000"/>
            </a:avLst>
          </a:prstGeom>
          <a:solidFill>
            <a:srgbClr val="FFFFFF"/>
          </a:solidFill>
          <a:ln w="15875">
            <a:solidFill>
              <a:srgbClr val="6D28D9"/>
            </a:solidFill>
          </a:ln>
        </p:spPr>
        <p:txBody>
          <a:bodyPr wrap="square" lIns="45720" tIns="27432" rIns="45720" bIns="27432" rtlCol="0" anchor="ctr">
            <a:noAutofit/>
          </a:bodyPr>
          <a:lstStyle/>
          <a:p>
            <a:pPr marL="0" indent="0" algn="ctr">
              <a:spcAft>
                <a:spcPts val="0"/>
              </a:spcAft>
              <a:buNone/>
            </a:pPr>
            <a:r>
              <a:rPr sz="1100" b="1" i="0">
                <a:solidFill>
                  <a:srgbClr val="14142B"/>
                </a:solidFill>
                <a:latin typeface="Arial"/>
              </a:rPr>
              <a:t>TRAVEL</a:t>
            </a:r>
          </a:p>
        </p:txBody>
      </p:sp>
      <p:sp>
        <p:nvSpPr>
          <p:cNvPr id="16" name="Rounded Rectangle 15"/>
          <p:cNvSpPr/>
          <p:nvPr/>
        </p:nvSpPr>
        <p:spPr>
          <a:xfrm>
            <a:off x="7269480" y="3337560"/>
            <a:ext cx="1280160" cy="502920"/>
          </a:xfrm>
          <a:prstGeom prst="roundRect">
            <a:avLst>
              <a:gd name="adj" fmla="val 20000"/>
            </a:avLst>
          </a:prstGeom>
          <a:solidFill>
            <a:srgbClr val="FFFFFF"/>
          </a:solidFill>
          <a:ln w="15875">
            <a:solidFill>
              <a:srgbClr val="6D28D9"/>
            </a:solidFill>
          </a:ln>
        </p:spPr>
        <p:txBody>
          <a:bodyPr wrap="square" lIns="45720" tIns="27432" rIns="45720" bIns="27432" rtlCol="0" anchor="ctr">
            <a:noAutofit/>
          </a:bodyPr>
          <a:lstStyle/>
          <a:p>
            <a:pPr marL="0" indent="0" algn="ctr">
              <a:spcAft>
                <a:spcPts val="0"/>
              </a:spcAft>
              <a:buNone/>
            </a:pPr>
            <a:r>
              <a:rPr sz="1100" b="1" i="0">
                <a:solidFill>
                  <a:srgbClr val="14142B"/>
                </a:solidFill>
                <a:latin typeface="Arial"/>
              </a:rPr>
              <a:t>FINANCE</a:t>
            </a:r>
          </a:p>
        </p:txBody>
      </p:sp>
      <p:sp>
        <p:nvSpPr>
          <p:cNvPr id="17" name="Rounded Rectangle 16"/>
          <p:cNvSpPr/>
          <p:nvPr/>
        </p:nvSpPr>
        <p:spPr>
          <a:xfrm>
            <a:off x="8705088" y="3337560"/>
            <a:ext cx="1280160" cy="502920"/>
          </a:xfrm>
          <a:prstGeom prst="roundRect">
            <a:avLst>
              <a:gd name="adj" fmla="val 20000"/>
            </a:avLst>
          </a:prstGeom>
          <a:solidFill>
            <a:srgbClr val="FFFFFF"/>
          </a:solidFill>
          <a:ln w="15875">
            <a:solidFill>
              <a:srgbClr val="6D28D9"/>
            </a:solidFill>
          </a:ln>
        </p:spPr>
        <p:txBody>
          <a:bodyPr wrap="square" lIns="45720" tIns="27432" rIns="45720" bIns="27432" rtlCol="0" anchor="ctr">
            <a:noAutofit/>
          </a:bodyPr>
          <a:lstStyle/>
          <a:p>
            <a:pPr marL="0" indent="0" algn="ctr">
              <a:spcAft>
                <a:spcPts val="0"/>
              </a:spcAft>
              <a:buNone/>
            </a:pPr>
            <a:r>
              <a:rPr sz="1100" b="1" i="0">
                <a:solidFill>
                  <a:srgbClr val="14142B"/>
                </a:solidFill>
                <a:latin typeface="Arial"/>
              </a:rPr>
              <a:t>HOUSING</a:t>
            </a:r>
          </a:p>
        </p:txBody>
      </p:sp>
      <p:sp>
        <p:nvSpPr>
          <p:cNvPr id="18" name="Rounded Rectangle 17"/>
          <p:cNvSpPr/>
          <p:nvPr/>
        </p:nvSpPr>
        <p:spPr>
          <a:xfrm>
            <a:off x="10140696" y="3337560"/>
            <a:ext cx="1280160" cy="502920"/>
          </a:xfrm>
          <a:prstGeom prst="roundRect">
            <a:avLst>
              <a:gd name="adj" fmla="val 20000"/>
            </a:avLst>
          </a:prstGeom>
          <a:solidFill>
            <a:srgbClr val="FFFFFF"/>
          </a:solidFill>
          <a:ln w="15875">
            <a:solidFill>
              <a:srgbClr val="6D28D9"/>
            </a:solidFill>
          </a:ln>
        </p:spPr>
        <p:txBody>
          <a:bodyPr wrap="square" lIns="45720" tIns="27432" rIns="45720" bIns="27432" rtlCol="0" anchor="ctr">
            <a:noAutofit/>
          </a:bodyPr>
          <a:lstStyle/>
          <a:p>
            <a:pPr marL="0" indent="0" algn="ctr">
              <a:spcAft>
                <a:spcPts val="0"/>
              </a:spcAft>
              <a:buNone/>
            </a:pPr>
            <a:r>
              <a:rPr sz="1100" b="1" i="0">
                <a:solidFill>
                  <a:srgbClr val="14142B"/>
                </a:solidFill>
                <a:latin typeface="Arial"/>
              </a:rPr>
              <a:t>E-COMMERCE</a:t>
            </a:r>
          </a:p>
        </p:txBody>
      </p:sp>
      <p:cxnSp>
        <p:nvCxnSpPr>
          <p:cNvPr id="19" name="Connector 18"/>
          <p:cNvCxnSpPr/>
          <p:nvPr/>
        </p:nvCxnSpPr>
        <p:spPr>
          <a:xfrm>
            <a:off x="10671048" y="2276856"/>
            <a:ext cx="0" cy="521208"/>
          </a:xfrm>
          <a:prstGeom prst="line">
            <a:avLst/>
          </a:prstGeom>
          <a:ln w="25400">
            <a:solidFill>
              <a:srgbClr val="6D28D9"/>
            </a:solidFill>
            <a:tailEnd type="triangle"/>
          </a:ln>
        </p:spPr>
      </p:cxnSp>
      <p:sp>
        <p:nvSpPr>
          <p:cNvPr id="20" name="Rounded Rectangle 19"/>
          <p:cNvSpPr/>
          <p:nvPr/>
        </p:nvSpPr>
        <p:spPr>
          <a:xfrm>
            <a:off x="9893808" y="4434840"/>
            <a:ext cx="1691640" cy="822960"/>
          </a:xfrm>
          <a:prstGeom prst="roundRect">
            <a:avLst>
              <a:gd name="adj" fmla="val 15000"/>
            </a:avLst>
          </a:prstGeom>
          <a:solidFill>
            <a:srgbClr val="FFFFFF"/>
          </a:solidFill>
          <a:ln w="15875">
            <a:solidFill>
              <a:srgbClr val="6D28D9"/>
            </a:solidFill>
          </a:ln>
        </p:spPr>
        <p:txBody>
          <a:bodyPr wrap="square" lIns="45720" tIns="27432" rIns="45720" bIns="27432" rtlCol="0" anchor="ctr">
            <a:noAutofit/>
          </a:bodyPr>
          <a:lstStyle/>
          <a:p>
            <a:pPr marL="0" indent="0" algn="ctr">
              <a:spcAft>
                <a:spcPts val="0"/>
              </a:spcAft>
              <a:buNone/>
            </a:pPr>
            <a:r>
              <a:rPr sz="1200" b="1" i="0">
                <a:solidFill>
                  <a:srgbClr val="14142B"/>
                </a:solidFill>
                <a:latin typeface="Arial"/>
              </a:rPr>
              <a:t>TOOL RESULT</a:t>
            </a:r>
          </a:p>
        </p:txBody>
      </p:sp>
      <p:sp>
        <p:nvSpPr>
          <p:cNvPr id="21" name="Rounded Rectangle 20"/>
          <p:cNvSpPr/>
          <p:nvPr/>
        </p:nvSpPr>
        <p:spPr>
          <a:xfrm>
            <a:off x="7781544" y="4434840"/>
            <a:ext cx="1691640" cy="822960"/>
          </a:xfrm>
          <a:prstGeom prst="roundRect">
            <a:avLst>
              <a:gd name="adj" fmla="val 15000"/>
            </a:avLst>
          </a:prstGeom>
          <a:solidFill>
            <a:srgbClr val="6D28D9"/>
          </a:solidFill>
          <a:ln w="15875">
            <a:solidFill>
              <a:srgbClr val="6D28D9"/>
            </a:solidFill>
          </a:ln>
        </p:spPr>
        <p:txBody>
          <a:bodyPr wrap="square" lIns="45720" tIns="27432" rIns="45720" bIns="27432" rtlCol="0" anchor="ctr">
            <a:noAutofit/>
          </a:bodyPr>
          <a:lstStyle/>
          <a:p>
            <a:pPr marL="0" indent="0" algn="ctr">
              <a:spcAft>
                <a:spcPts val="0"/>
              </a:spcAft>
              <a:buNone/>
            </a:pPr>
            <a:r>
              <a:rPr sz="1100" b="1" i="0">
                <a:solidFill>
                  <a:srgbClr val="FFFFFF"/>
                </a:solidFill>
                <a:latin typeface="Arial"/>
              </a:rPr>
              <a:t>GEMINI NATIVE AUDIO</a:t>
            </a:r>
          </a:p>
          <a:p>
            <a:pPr marL="0" indent="0" algn="ctr">
              <a:spcAft>
                <a:spcPts val="0"/>
              </a:spcAft>
              <a:buNone/>
            </a:pPr>
            <a:r>
              <a:rPr sz="1000" b="0" i="0">
                <a:solidFill>
                  <a:srgbClr val="FFFFFF"/>
                </a:solidFill>
                <a:latin typeface="Calibri"/>
              </a:rPr>
              <a:t>RESPONSE</a:t>
            </a:r>
          </a:p>
        </p:txBody>
      </p:sp>
      <p:sp>
        <p:nvSpPr>
          <p:cNvPr id="22" name="Rounded Rectangle 21"/>
          <p:cNvSpPr/>
          <p:nvPr/>
        </p:nvSpPr>
        <p:spPr>
          <a:xfrm>
            <a:off x="5669280" y="4434840"/>
            <a:ext cx="1691640" cy="822960"/>
          </a:xfrm>
          <a:prstGeom prst="roundRect">
            <a:avLst>
              <a:gd name="adj" fmla="val 15000"/>
            </a:avLst>
          </a:prstGeom>
          <a:solidFill>
            <a:srgbClr val="FFFFFF"/>
          </a:solidFill>
          <a:ln w="15875">
            <a:solidFill>
              <a:srgbClr val="6D28D9"/>
            </a:solidFill>
          </a:ln>
        </p:spPr>
        <p:txBody>
          <a:bodyPr wrap="square" lIns="45720" tIns="27432" rIns="45720" bIns="27432" rtlCol="0" anchor="ctr">
            <a:noAutofit/>
          </a:bodyPr>
          <a:lstStyle/>
          <a:p>
            <a:pPr marL="0" indent="0" algn="ctr">
              <a:spcAft>
                <a:spcPts val="0"/>
              </a:spcAft>
              <a:buNone/>
            </a:pPr>
            <a:r>
              <a:rPr sz="1200" b="1" i="0">
                <a:solidFill>
                  <a:srgbClr val="14142B"/>
                </a:solidFill>
                <a:latin typeface="Arial"/>
              </a:rPr>
              <a:t>USER</a:t>
            </a:r>
          </a:p>
        </p:txBody>
      </p:sp>
      <p:cxnSp>
        <p:nvCxnSpPr>
          <p:cNvPr id="23" name="Connector 22"/>
          <p:cNvCxnSpPr/>
          <p:nvPr/>
        </p:nvCxnSpPr>
        <p:spPr>
          <a:xfrm>
            <a:off x="10739628" y="4059936"/>
            <a:ext cx="0" cy="338328"/>
          </a:xfrm>
          <a:prstGeom prst="line">
            <a:avLst/>
          </a:prstGeom>
          <a:ln w="25400">
            <a:solidFill>
              <a:srgbClr val="6D28D9"/>
            </a:solidFill>
            <a:tailEnd type="triangle"/>
          </a:ln>
        </p:spPr>
      </p:cxnSp>
      <p:cxnSp>
        <p:nvCxnSpPr>
          <p:cNvPr id="24" name="Connector 23"/>
          <p:cNvCxnSpPr/>
          <p:nvPr/>
        </p:nvCxnSpPr>
        <p:spPr>
          <a:xfrm flipH="1">
            <a:off x="9509759" y="4846320"/>
            <a:ext cx="347473" cy="0"/>
          </a:xfrm>
          <a:prstGeom prst="line">
            <a:avLst/>
          </a:prstGeom>
          <a:ln w="25400">
            <a:solidFill>
              <a:srgbClr val="6D28D9"/>
            </a:solidFill>
            <a:tailEnd type="triangle"/>
          </a:ln>
        </p:spPr>
      </p:cxnSp>
      <p:cxnSp>
        <p:nvCxnSpPr>
          <p:cNvPr id="25" name="Connector 24"/>
          <p:cNvCxnSpPr/>
          <p:nvPr/>
        </p:nvCxnSpPr>
        <p:spPr>
          <a:xfrm flipH="1">
            <a:off x="7397496" y="4846320"/>
            <a:ext cx="347472" cy="0"/>
          </a:xfrm>
          <a:prstGeom prst="line">
            <a:avLst/>
          </a:prstGeom>
          <a:ln w="25400">
            <a:solidFill>
              <a:srgbClr val="6D28D9"/>
            </a:solidFill>
            <a:tailEnd type="triangle"/>
          </a:ln>
        </p:spPr>
      </p:cxnSp>
      <p:sp>
        <p:nvSpPr>
          <p:cNvPr id="26" name="Rounded Rectangle 25"/>
          <p:cNvSpPr/>
          <p:nvPr/>
        </p:nvSpPr>
        <p:spPr>
          <a:xfrm>
            <a:off x="612648" y="5577840"/>
            <a:ext cx="10972800" cy="731520"/>
          </a:xfrm>
          <a:prstGeom prst="roundRect">
            <a:avLst>
              <a:gd name="adj" fmla="val 15000"/>
            </a:avLst>
          </a:prstGeom>
          <a:noFill/>
          <a:ln w="19050">
            <a:solidFill>
              <a:srgbClr val="6D28D9"/>
            </a:solidFill>
            <a:prstDash val="dash"/>
          </a:ln>
        </p:spPr>
        <p:txBody>
          <a:bodyPr wrap="square" lIns="109728" tIns="54864" rIns="109728" bIns="54864" rtlCol="0" anchor="ctr">
            <a:noAutofit/>
          </a:bodyPr>
          <a:lstStyle/>
          <a:p>
            <a:pPr marL="0" indent="0" algn="ctr">
              <a:spcAft>
                <a:spcPts val="0"/>
              </a:spcAft>
              <a:buNone/>
            </a:pPr>
            <a:r>
              <a:rPr sz="1600" b="1" i="0">
                <a:solidFill>
                  <a:srgbClr val="6D28D9"/>
                </a:solidFill>
                <a:latin typeface="Arial"/>
              </a:rPr>
              <a:t>OBSERVABILITY   </a:t>
            </a:r>
            <a:r>
              <a:rPr sz="1600" b="0" i="0">
                <a:solidFill>
                  <a:srgbClr val="14142B"/>
                </a:solidFill>
                <a:latin typeface="Calibri"/>
              </a:rPr>
              <a:t>Tool Calls  |  Latency  |  Agent Events  |  Benchmark Evaluation</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548640" y="320040"/>
            <a:ext cx="11091672" cy="777240"/>
          </a:xfrm>
        </p:spPr>
        <p:txBody>
          <a:bodyPr wrap="square" anchor="ctr">
            <a:noAutofit/>
          </a:bodyPr>
          <a:lstStyle/>
          <a:p>
            <a:pPr marL="0" indent="0" algn="l">
              <a:spcAft>
                <a:spcPts val="0"/>
              </a:spcAft>
              <a:buNone/>
            </a:pPr>
            <a:r>
              <a:rPr sz="2800" b="1" i="0">
                <a:solidFill>
                  <a:srgbClr val="704EA6"/>
                </a:solidFill>
                <a:latin typeface="Calibri"/>
              </a:rPr>
              <a:t>WHEN THE USER CHANGES THEIR MIND</a:t>
            </a:r>
          </a:p>
        </p:txBody>
      </p:sp>
      <p:sp>
        <p:nvSpPr>
          <p:cNvPr id="3" name="Rounded Rectangle 2"/>
          <p:cNvSpPr/>
          <p:nvPr/>
        </p:nvSpPr>
        <p:spPr>
          <a:xfrm>
            <a:off x="548640" y="1325880"/>
            <a:ext cx="5440680" cy="420624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400"/>
              </a:spcAft>
              <a:buNone/>
            </a:pPr>
            <a:endParaRPr/>
          </a:p>
        </p:txBody>
      </p:sp>
      <p:sp>
        <p:nvSpPr>
          <p:cNvPr id="4" name="TextBox 3"/>
          <p:cNvSpPr txBox="1"/>
          <p:nvPr/>
        </p:nvSpPr>
        <p:spPr>
          <a:xfrm>
            <a:off x="777240" y="1508760"/>
            <a:ext cx="4983480" cy="274320"/>
          </a:xfrm>
          <a:prstGeom prst="rect">
            <a:avLst/>
          </a:prstGeom>
          <a:noFill/>
        </p:spPr>
        <p:txBody>
          <a:bodyPr wrap="square" lIns="0" tIns="0" rIns="0" bIns="0" anchor="t">
            <a:noAutofit/>
          </a:bodyPr>
          <a:lstStyle/>
          <a:p>
            <a:pPr marL="0" indent="0" algn="l">
              <a:spcAft>
                <a:spcPts val="400"/>
              </a:spcAft>
              <a:buNone/>
            </a:pPr>
            <a:r>
              <a:rPr sz="1200" b="1" i="0">
                <a:solidFill>
                  <a:srgbClr val="6D28D9"/>
                </a:solidFill>
                <a:latin typeface="Arial"/>
              </a:rPr>
              <a:t>SCENARIO 01 — SEARCH CORRECTION</a:t>
            </a:r>
          </a:p>
        </p:txBody>
      </p:sp>
      <p:sp>
        <p:nvSpPr>
          <p:cNvPr id="5" name="TextBox 4"/>
          <p:cNvSpPr txBox="1"/>
          <p:nvPr/>
        </p:nvSpPr>
        <p:spPr>
          <a:xfrm>
            <a:off x="777240" y="1874519"/>
            <a:ext cx="4983480" cy="1005840"/>
          </a:xfrm>
          <a:prstGeom prst="rect">
            <a:avLst/>
          </a:prstGeom>
          <a:noFill/>
        </p:spPr>
        <p:txBody>
          <a:bodyPr wrap="square" lIns="0" tIns="0" rIns="0" bIns="0" anchor="ctr">
            <a:noAutofit/>
          </a:bodyPr>
          <a:lstStyle/>
          <a:p>
            <a:pPr marL="0" indent="0" algn="l">
              <a:spcAft>
                <a:spcPts val="400"/>
              </a:spcAft>
              <a:buNone/>
            </a:pPr>
            <a:r>
              <a:rPr sz="1900" b="0" i="1">
                <a:solidFill>
                  <a:srgbClr val="14142B"/>
                </a:solidFill>
                <a:latin typeface="Calibri"/>
              </a:rPr>
              <a:t>“Search for running shoes... actually, no — hiking boots.”</a:t>
            </a:r>
          </a:p>
        </p:txBody>
      </p:sp>
      <p:sp>
        <p:nvSpPr>
          <p:cNvPr id="6" name="Rounded Rectangle 5"/>
          <p:cNvSpPr/>
          <p:nvPr/>
        </p:nvSpPr>
        <p:spPr>
          <a:xfrm>
            <a:off x="754380" y="3108960"/>
            <a:ext cx="1508760" cy="640080"/>
          </a:xfrm>
          <a:prstGeom prst="roundRect">
            <a:avLst>
              <a:gd name="adj" fmla="val 20000"/>
            </a:avLst>
          </a:prstGeom>
          <a:solidFill>
            <a:srgbClr val="FFFFFF"/>
          </a:solidFill>
          <a:ln w="15875">
            <a:solidFill>
              <a:srgbClr val="9A9AB0"/>
            </a:solidFill>
          </a:ln>
        </p:spPr>
        <p:txBody>
          <a:bodyPr wrap="square" lIns="45720" tIns="27432" rIns="45720" bIns="27432" rtlCol="0" anchor="ctr">
            <a:noAutofit/>
          </a:bodyPr>
          <a:lstStyle/>
          <a:p>
            <a:pPr marL="0" indent="0" algn="ctr">
              <a:spcAft>
                <a:spcPts val="0"/>
              </a:spcAft>
              <a:buNone/>
            </a:pPr>
            <a:r>
              <a:rPr sz="1200" b="1" i="0">
                <a:solidFill>
                  <a:srgbClr val="63637E"/>
                </a:solidFill>
                <a:latin typeface="Arial"/>
              </a:rPr>
              <a:t>RUNNING SHOES</a:t>
            </a:r>
          </a:p>
        </p:txBody>
      </p:sp>
      <p:cxnSp>
        <p:nvCxnSpPr>
          <p:cNvPr id="7" name="Connector 6"/>
          <p:cNvCxnSpPr/>
          <p:nvPr/>
        </p:nvCxnSpPr>
        <p:spPr>
          <a:xfrm>
            <a:off x="2299715" y="3429000"/>
            <a:ext cx="224029" cy="0"/>
          </a:xfrm>
          <a:prstGeom prst="line">
            <a:avLst/>
          </a:prstGeom>
          <a:ln w="25400">
            <a:solidFill>
              <a:srgbClr val="6D28D9"/>
            </a:solidFill>
            <a:tailEnd type="triangle"/>
          </a:ln>
        </p:spPr>
      </p:cxnSp>
      <p:sp>
        <p:nvSpPr>
          <p:cNvPr id="8" name="Rounded Rectangle 7"/>
          <p:cNvSpPr/>
          <p:nvPr/>
        </p:nvSpPr>
        <p:spPr>
          <a:xfrm>
            <a:off x="2560320" y="3108960"/>
            <a:ext cx="1508760" cy="640080"/>
          </a:xfrm>
          <a:prstGeom prst="roundRect">
            <a:avLst>
              <a:gd name="adj" fmla="val 20000"/>
            </a:avLst>
          </a:prstGeom>
          <a:solidFill>
            <a:srgbClr val="FFFFFF"/>
          </a:solidFill>
          <a:ln w="15875">
            <a:solidFill>
              <a:srgbClr val="B45309"/>
            </a:solidFill>
          </a:ln>
        </p:spPr>
        <p:txBody>
          <a:bodyPr wrap="square" lIns="45720" tIns="27432" rIns="45720" bIns="27432" rtlCol="0" anchor="ctr">
            <a:noAutofit/>
          </a:bodyPr>
          <a:lstStyle/>
          <a:p>
            <a:pPr marL="0" indent="0" algn="ctr">
              <a:spcAft>
                <a:spcPts val="0"/>
              </a:spcAft>
              <a:buNone/>
            </a:pPr>
            <a:r>
              <a:rPr sz="1200" b="1" i="0">
                <a:solidFill>
                  <a:srgbClr val="B45309"/>
                </a:solidFill>
                <a:latin typeface="Arial"/>
              </a:rPr>
              <a:t>USER CORRECTS</a:t>
            </a:r>
          </a:p>
        </p:txBody>
      </p:sp>
      <p:cxnSp>
        <p:nvCxnSpPr>
          <p:cNvPr id="9" name="Connector 8"/>
          <p:cNvCxnSpPr/>
          <p:nvPr/>
        </p:nvCxnSpPr>
        <p:spPr>
          <a:xfrm>
            <a:off x="4105655" y="3429000"/>
            <a:ext cx="224028" cy="0"/>
          </a:xfrm>
          <a:prstGeom prst="line">
            <a:avLst/>
          </a:prstGeom>
          <a:ln w="25400">
            <a:solidFill>
              <a:srgbClr val="6D28D9"/>
            </a:solidFill>
            <a:tailEnd type="triangle"/>
          </a:ln>
        </p:spPr>
      </p:cxnSp>
      <p:sp>
        <p:nvSpPr>
          <p:cNvPr id="10" name="Rounded Rectangle 9"/>
          <p:cNvSpPr/>
          <p:nvPr/>
        </p:nvSpPr>
        <p:spPr>
          <a:xfrm>
            <a:off x="4366259" y="3108960"/>
            <a:ext cx="1508760" cy="640080"/>
          </a:xfrm>
          <a:prstGeom prst="roundRect">
            <a:avLst>
              <a:gd name="adj" fmla="val 20000"/>
            </a:avLst>
          </a:prstGeom>
          <a:solidFill>
            <a:srgbClr val="6D28D9"/>
          </a:solidFill>
          <a:ln w="15875">
            <a:solidFill>
              <a:srgbClr val="6D28D9"/>
            </a:solidFill>
          </a:ln>
        </p:spPr>
        <p:txBody>
          <a:bodyPr wrap="square" lIns="45720" tIns="27432" rIns="45720" bIns="27432" rtlCol="0" anchor="ctr">
            <a:noAutofit/>
          </a:bodyPr>
          <a:lstStyle/>
          <a:p>
            <a:pPr marL="0" indent="0" algn="ctr">
              <a:spcAft>
                <a:spcPts val="0"/>
              </a:spcAft>
              <a:buNone/>
            </a:pPr>
            <a:r>
              <a:rPr sz="1200" b="1" i="0">
                <a:solidFill>
                  <a:srgbClr val="FFFFFF"/>
                </a:solidFill>
                <a:latin typeface="Arial"/>
              </a:rPr>
              <a:t>HIKING BOOTS</a:t>
            </a:r>
          </a:p>
        </p:txBody>
      </p:sp>
      <p:sp>
        <p:nvSpPr>
          <p:cNvPr id="11" name="Rounded Rectangle 10"/>
          <p:cNvSpPr/>
          <p:nvPr/>
        </p:nvSpPr>
        <p:spPr>
          <a:xfrm>
            <a:off x="777240" y="4023360"/>
            <a:ext cx="4983480" cy="868680"/>
          </a:xfrm>
          <a:prstGeom prst="roundRect">
            <a:avLst>
              <a:gd name="adj" fmla="val 10000"/>
            </a:avLst>
          </a:prstGeom>
          <a:solidFill>
            <a:srgbClr val="14142B"/>
          </a:solidFill>
          <a:ln>
            <a:noFill/>
          </a:ln>
        </p:spPr>
        <p:txBody>
          <a:bodyPr wrap="square" lIns="228600" rIns="228600" rtlCol="0" anchor="ctr">
            <a:noAutofit/>
          </a:bodyPr>
          <a:lstStyle/>
          <a:p>
            <a:pPr marL="0" indent="0" algn="ctr">
              <a:spcAft>
                <a:spcPts val="0"/>
              </a:spcAft>
              <a:buNone/>
            </a:pPr>
            <a:r>
              <a:rPr sz="1600" b="0" i="0">
                <a:solidFill>
                  <a:srgbClr val="D9D3F0"/>
                </a:solidFill>
                <a:latin typeface="Calibri"/>
              </a:rPr>
              <a:t>Agent should ultimately act on:  </a:t>
            </a:r>
            <a:r>
              <a:rPr sz="1600" b="1" i="0">
                <a:solidFill>
                  <a:srgbClr val="FFFFFF"/>
                </a:solidFill>
                <a:latin typeface="Calibri"/>
              </a:rPr>
              <a:t>hiking boots</a:t>
            </a:r>
          </a:p>
        </p:txBody>
      </p:sp>
      <p:sp>
        <p:nvSpPr>
          <p:cNvPr id="12" name="TextBox 11"/>
          <p:cNvSpPr txBox="1"/>
          <p:nvPr/>
        </p:nvSpPr>
        <p:spPr>
          <a:xfrm>
            <a:off x="777240" y="5029200"/>
            <a:ext cx="4983480" cy="320040"/>
          </a:xfrm>
          <a:prstGeom prst="rect">
            <a:avLst/>
          </a:prstGeom>
          <a:noFill/>
        </p:spPr>
        <p:txBody>
          <a:bodyPr wrap="square" lIns="0" tIns="0" rIns="0" bIns="0" anchor="t">
            <a:noAutofit/>
          </a:bodyPr>
          <a:lstStyle/>
          <a:p>
            <a:pPr marL="0" indent="0" algn="ctr">
              <a:spcAft>
                <a:spcPts val="400"/>
              </a:spcAft>
              <a:buNone/>
            </a:pPr>
            <a:r>
              <a:rPr sz="1100" b="1" i="0">
                <a:solidFill>
                  <a:srgbClr val="63637E"/>
                </a:solidFill>
                <a:latin typeface="Arial"/>
              </a:rPr>
              <a:t>TARGET BENCHMARK BEHAVIOR</a:t>
            </a:r>
          </a:p>
        </p:txBody>
      </p:sp>
      <p:sp>
        <p:nvSpPr>
          <p:cNvPr id="13" name="Rounded Rectangle 12"/>
          <p:cNvSpPr/>
          <p:nvPr/>
        </p:nvSpPr>
        <p:spPr>
          <a:xfrm>
            <a:off x="6199632" y="1325880"/>
            <a:ext cx="5440680" cy="420624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400"/>
              </a:spcAft>
              <a:buNone/>
            </a:pPr>
            <a:endParaRPr/>
          </a:p>
        </p:txBody>
      </p:sp>
      <p:sp>
        <p:nvSpPr>
          <p:cNvPr id="14" name="TextBox 13"/>
          <p:cNvSpPr txBox="1"/>
          <p:nvPr/>
        </p:nvSpPr>
        <p:spPr>
          <a:xfrm>
            <a:off x="6428232" y="1508760"/>
            <a:ext cx="4983480" cy="274320"/>
          </a:xfrm>
          <a:prstGeom prst="rect">
            <a:avLst/>
          </a:prstGeom>
          <a:noFill/>
        </p:spPr>
        <p:txBody>
          <a:bodyPr wrap="square" lIns="0" tIns="0" rIns="0" bIns="0" anchor="t">
            <a:noAutofit/>
          </a:bodyPr>
          <a:lstStyle/>
          <a:p>
            <a:pPr marL="0" indent="0" algn="l">
              <a:spcAft>
                <a:spcPts val="400"/>
              </a:spcAft>
              <a:buNone/>
            </a:pPr>
            <a:r>
              <a:rPr sz="1200" b="1" i="0">
                <a:solidFill>
                  <a:srgbClr val="6D28D9"/>
                </a:solidFill>
                <a:latin typeface="Arial"/>
              </a:rPr>
              <a:t>SCENARIO 02 — QUANTITY CORRECTION</a:t>
            </a:r>
          </a:p>
        </p:txBody>
      </p:sp>
      <p:sp>
        <p:nvSpPr>
          <p:cNvPr id="15" name="TextBox 14"/>
          <p:cNvSpPr txBox="1"/>
          <p:nvPr/>
        </p:nvSpPr>
        <p:spPr>
          <a:xfrm>
            <a:off x="6428232" y="1874519"/>
            <a:ext cx="4983480" cy="1005840"/>
          </a:xfrm>
          <a:prstGeom prst="rect">
            <a:avLst/>
          </a:prstGeom>
          <a:noFill/>
        </p:spPr>
        <p:txBody>
          <a:bodyPr wrap="square" lIns="0" tIns="0" rIns="0" bIns="0" anchor="ctr">
            <a:noAutofit/>
          </a:bodyPr>
          <a:lstStyle/>
          <a:p>
            <a:pPr marL="0" indent="0" algn="l">
              <a:spcAft>
                <a:spcPts val="400"/>
              </a:spcAft>
              <a:buNone/>
            </a:pPr>
            <a:r>
              <a:rPr sz="1900" b="0" i="1">
                <a:solidFill>
                  <a:srgbClr val="14142B"/>
                </a:solidFill>
                <a:latin typeface="Calibri"/>
              </a:rPr>
              <a:t>“Add product B7... make it 3... no, wait. Just put 1.”</a:t>
            </a:r>
          </a:p>
        </p:txBody>
      </p:sp>
      <p:sp>
        <p:nvSpPr>
          <p:cNvPr id="16" name="Rounded Rectangle 15"/>
          <p:cNvSpPr/>
          <p:nvPr/>
        </p:nvSpPr>
        <p:spPr>
          <a:xfrm>
            <a:off x="6405372" y="3108960"/>
            <a:ext cx="1508760" cy="640080"/>
          </a:xfrm>
          <a:prstGeom prst="roundRect">
            <a:avLst>
              <a:gd name="adj" fmla="val 20000"/>
            </a:avLst>
          </a:prstGeom>
          <a:solidFill>
            <a:srgbClr val="FFFFFF"/>
          </a:solidFill>
          <a:ln w="15875">
            <a:solidFill>
              <a:srgbClr val="9A9AB0"/>
            </a:solidFill>
          </a:ln>
        </p:spPr>
        <p:txBody>
          <a:bodyPr wrap="square" lIns="45720" tIns="27432" rIns="45720" bIns="27432" rtlCol="0" anchor="ctr">
            <a:noAutofit/>
          </a:bodyPr>
          <a:lstStyle/>
          <a:p>
            <a:pPr marL="0" indent="0" algn="ctr">
              <a:spcAft>
                <a:spcPts val="0"/>
              </a:spcAft>
              <a:buNone/>
            </a:pPr>
            <a:r>
              <a:rPr sz="1200" b="1" i="0">
                <a:solidFill>
                  <a:srgbClr val="63637E"/>
                </a:solidFill>
                <a:latin typeface="Arial"/>
              </a:rPr>
              <a:t>QTY 3</a:t>
            </a:r>
          </a:p>
        </p:txBody>
      </p:sp>
      <p:cxnSp>
        <p:nvCxnSpPr>
          <p:cNvPr id="17" name="Connector 16"/>
          <p:cNvCxnSpPr/>
          <p:nvPr/>
        </p:nvCxnSpPr>
        <p:spPr>
          <a:xfrm>
            <a:off x="7950707" y="3429000"/>
            <a:ext cx="224029" cy="0"/>
          </a:xfrm>
          <a:prstGeom prst="line">
            <a:avLst/>
          </a:prstGeom>
          <a:ln w="25400">
            <a:solidFill>
              <a:srgbClr val="6D28D9"/>
            </a:solidFill>
            <a:tailEnd type="triangle"/>
          </a:ln>
        </p:spPr>
      </p:cxnSp>
      <p:sp>
        <p:nvSpPr>
          <p:cNvPr id="18" name="Rounded Rectangle 17"/>
          <p:cNvSpPr/>
          <p:nvPr/>
        </p:nvSpPr>
        <p:spPr>
          <a:xfrm>
            <a:off x="8211312" y="3108960"/>
            <a:ext cx="1508760" cy="640080"/>
          </a:xfrm>
          <a:prstGeom prst="roundRect">
            <a:avLst>
              <a:gd name="adj" fmla="val 20000"/>
            </a:avLst>
          </a:prstGeom>
          <a:solidFill>
            <a:srgbClr val="FFFFFF"/>
          </a:solidFill>
          <a:ln w="15875">
            <a:solidFill>
              <a:srgbClr val="B45309"/>
            </a:solidFill>
          </a:ln>
        </p:spPr>
        <p:txBody>
          <a:bodyPr wrap="square" lIns="45720" tIns="27432" rIns="45720" bIns="27432" rtlCol="0" anchor="ctr">
            <a:noAutofit/>
          </a:bodyPr>
          <a:lstStyle/>
          <a:p>
            <a:pPr marL="0" indent="0" algn="ctr">
              <a:spcAft>
                <a:spcPts val="0"/>
              </a:spcAft>
              <a:buNone/>
            </a:pPr>
            <a:r>
              <a:rPr sz="1200" b="1" i="0">
                <a:solidFill>
                  <a:srgbClr val="B45309"/>
                </a:solidFill>
                <a:latin typeface="Arial"/>
              </a:rPr>
              <a:t>CORRECTION</a:t>
            </a:r>
          </a:p>
        </p:txBody>
      </p:sp>
      <p:cxnSp>
        <p:nvCxnSpPr>
          <p:cNvPr id="19" name="Connector 18"/>
          <p:cNvCxnSpPr/>
          <p:nvPr/>
        </p:nvCxnSpPr>
        <p:spPr>
          <a:xfrm>
            <a:off x="9756648" y="3429000"/>
            <a:ext cx="224028" cy="0"/>
          </a:xfrm>
          <a:prstGeom prst="line">
            <a:avLst/>
          </a:prstGeom>
          <a:ln w="25400">
            <a:solidFill>
              <a:srgbClr val="6D28D9"/>
            </a:solidFill>
            <a:tailEnd type="triangle"/>
          </a:ln>
        </p:spPr>
      </p:cxnSp>
      <p:sp>
        <p:nvSpPr>
          <p:cNvPr id="20" name="Rounded Rectangle 19"/>
          <p:cNvSpPr/>
          <p:nvPr/>
        </p:nvSpPr>
        <p:spPr>
          <a:xfrm>
            <a:off x="10017252" y="3108960"/>
            <a:ext cx="1508760" cy="640080"/>
          </a:xfrm>
          <a:prstGeom prst="roundRect">
            <a:avLst>
              <a:gd name="adj" fmla="val 20000"/>
            </a:avLst>
          </a:prstGeom>
          <a:solidFill>
            <a:srgbClr val="6D28D9"/>
          </a:solidFill>
          <a:ln w="15875">
            <a:solidFill>
              <a:srgbClr val="6D28D9"/>
            </a:solidFill>
          </a:ln>
        </p:spPr>
        <p:txBody>
          <a:bodyPr wrap="square" lIns="45720" tIns="27432" rIns="45720" bIns="27432" rtlCol="0" anchor="ctr">
            <a:noAutofit/>
          </a:bodyPr>
          <a:lstStyle/>
          <a:p>
            <a:pPr marL="0" indent="0" algn="ctr">
              <a:spcAft>
                <a:spcPts val="0"/>
              </a:spcAft>
              <a:buNone/>
            </a:pPr>
            <a:r>
              <a:rPr sz="1200" b="1" i="0">
                <a:solidFill>
                  <a:srgbClr val="FFFFFF"/>
                </a:solidFill>
                <a:latin typeface="Arial"/>
              </a:rPr>
              <a:t>QTY 1</a:t>
            </a:r>
          </a:p>
        </p:txBody>
      </p:sp>
      <p:sp>
        <p:nvSpPr>
          <p:cNvPr id="21" name="Rounded Rectangle 20"/>
          <p:cNvSpPr/>
          <p:nvPr/>
        </p:nvSpPr>
        <p:spPr>
          <a:xfrm>
            <a:off x="6428232" y="4023360"/>
            <a:ext cx="4983480" cy="868680"/>
          </a:xfrm>
          <a:prstGeom prst="roundRect">
            <a:avLst>
              <a:gd name="adj" fmla="val 10000"/>
            </a:avLst>
          </a:prstGeom>
          <a:solidFill>
            <a:srgbClr val="14142B"/>
          </a:solidFill>
          <a:ln>
            <a:noFill/>
          </a:ln>
        </p:spPr>
        <p:txBody>
          <a:bodyPr wrap="square" lIns="228600" rIns="228600" rtlCol="0" anchor="ctr">
            <a:noAutofit/>
          </a:bodyPr>
          <a:lstStyle/>
          <a:p>
            <a:pPr marL="0" indent="0" algn="l">
              <a:spcAft>
                <a:spcPts val="0"/>
              </a:spcAft>
              <a:buNone/>
            </a:pPr>
            <a:r>
              <a:rPr sz="1400" b="0" i="0">
                <a:solidFill>
                  <a:srgbClr val="FFFFFF"/>
                </a:solidFill>
                <a:latin typeface="Consolas"/>
              </a:rPr>
              <a:t>add_to_cart(</a:t>
            </a:r>
          </a:p>
          <a:p>
            <a:pPr marL="0" indent="0" algn="l">
              <a:spcAft>
                <a:spcPts val="0"/>
              </a:spcAft>
              <a:buNone/>
            </a:pPr>
            <a:r>
              <a:rPr sz="1400" b="0" i="0">
                <a:solidFill>
                  <a:srgbClr val="D9D3F0"/>
                </a:solidFill>
                <a:latin typeface="Consolas"/>
              </a:rPr>
              <a:t>    product_id = B7,</a:t>
            </a:r>
          </a:p>
          <a:p>
            <a:pPr marL="0" indent="0" algn="l">
              <a:spcAft>
                <a:spcPts val="0"/>
              </a:spcAft>
              <a:buNone/>
            </a:pPr>
            <a:r>
              <a:rPr sz="1400" b="0" i="0">
                <a:solidFill>
                  <a:srgbClr val="D9D3F0"/>
                </a:solidFill>
                <a:latin typeface="Consolas"/>
              </a:rPr>
              <a:t>    quantity = 1</a:t>
            </a:r>
          </a:p>
          <a:p>
            <a:pPr marL="0" indent="0" algn="l">
              <a:spcAft>
                <a:spcPts val="0"/>
              </a:spcAft>
              <a:buNone/>
            </a:pPr>
            <a:r>
              <a:rPr sz="1400" b="0" i="0">
                <a:solidFill>
                  <a:srgbClr val="FFFFFF"/>
                </a:solidFill>
                <a:latin typeface="Consolas"/>
              </a:rPr>
              <a:t>)</a:t>
            </a:r>
          </a:p>
        </p:txBody>
      </p:sp>
      <p:sp>
        <p:nvSpPr>
          <p:cNvPr id="22" name="TextBox 21"/>
          <p:cNvSpPr txBox="1"/>
          <p:nvPr/>
        </p:nvSpPr>
        <p:spPr>
          <a:xfrm>
            <a:off x="6428232" y="5029200"/>
            <a:ext cx="4983480" cy="320040"/>
          </a:xfrm>
          <a:prstGeom prst="rect">
            <a:avLst/>
          </a:prstGeom>
          <a:noFill/>
        </p:spPr>
        <p:txBody>
          <a:bodyPr wrap="square" lIns="0" tIns="0" rIns="0" bIns="0" anchor="t">
            <a:noAutofit/>
          </a:bodyPr>
          <a:lstStyle/>
          <a:p>
            <a:pPr marL="0" indent="0" algn="ctr">
              <a:spcAft>
                <a:spcPts val="400"/>
              </a:spcAft>
              <a:buNone/>
            </a:pPr>
            <a:r>
              <a:rPr sz="1100" b="1" i="0">
                <a:solidFill>
                  <a:srgbClr val="63637E"/>
                </a:solidFill>
                <a:latin typeface="Arial"/>
              </a:rPr>
              <a:t>TARGET BENCHMARK BEHAVIOR</a:t>
            </a:r>
          </a:p>
        </p:txBody>
      </p:sp>
      <p:sp>
        <p:nvSpPr>
          <p:cNvPr id="23" name="TextBox 22"/>
          <p:cNvSpPr txBox="1"/>
          <p:nvPr/>
        </p:nvSpPr>
        <p:spPr>
          <a:xfrm>
            <a:off x="548640" y="6309360"/>
            <a:ext cx="11091672" cy="457200"/>
          </a:xfrm>
          <a:prstGeom prst="rect">
            <a:avLst/>
          </a:prstGeom>
          <a:noFill/>
        </p:spPr>
        <p:txBody>
          <a:bodyPr wrap="square" lIns="0" tIns="0" rIns="0" bIns="0" anchor="ctr">
            <a:noAutofit/>
          </a:bodyPr>
          <a:lstStyle/>
          <a:p>
            <a:pPr marL="0" indent="0" algn="ctr">
              <a:spcAft>
                <a:spcPts val="400"/>
              </a:spcAft>
              <a:buNone/>
            </a:pPr>
            <a:r>
              <a:rPr sz="1300" b="0" i="1" dirty="0">
                <a:solidFill>
                  <a:srgbClr val="63637E"/>
                </a:solidFill>
                <a:latin typeface="Calibri"/>
              </a:rPr>
              <a:t>Benchmark scenarios shown as target behavior — not a claim that these exact runs were completed.</a:t>
            </a:r>
          </a:p>
        </p:txBody>
      </p:sp>
      <p:sp>
        <p:nvSpPr>
          <p:cNvPr id="25" name="TextBox 24">
            <a:extLst>
              <a:ext uri="{FF2B5EF4-FFF2-40B4-BE49-F238E27FC236}">
                <a16:creationId xmlns:a16="http://schemas.microsoft.com/office/drawing/2014/main" id="{43275488-E16A-8ACF-8DBF-14DBB73CBD1D}"/>
              </a:ext>
            </a:extLst>
          </p:cNvPr>
          <p:cNvSpPr txBox="1"/>
          <p:nvPr/>
        </p:nvSpPr>
        <p:spPr>
          <a:xfrm>
            <a:off x="2090050" y="5945845"/>
            <a:ext cx="8008852" cy="315551"/>
          </a:xfrm>
          <a:prstGeom prst="rect">
            <a:avLst/>
          </a:prstGeom>
          <a:noFill/>
        </p:spPr>
        <p:txBody>
          <a:bodyPr wrap="square">
            <a:spAutoFit/>
          </a:bodyPr>
          <a:lstStyle/>
          <a:p>
            <a:pPr>
              <a:spcAft>
                <a:spcPts val="600"/>
              </a:spcAft>
            </a:pPr>
            <a:r>
              <a:rPr lang="en-IN" sz="1400" b="1" dirty="0">
                <a:latin typeface="Calibri" panose="020F0502020204030204" pitchFamily="34" charset="0"/>
                <a:ea typeface="Calibri" panose="020F0502020204030204" pitchFamily="34" charset="0"/>
                <a:cs typeface="Calibri" panose="020F0502020204030204" pitchFamily="34" charset="0"/>
              </a:rPr>
              <a:t>Live Demo:        </a:t>
            </a:r>
            <a:r>
              <a:rPr lang="en-IN" sz="1400" dirty="0">
                <a:latin typeface="Calibri" panose="020F0502020204030204" pitchFamily="34" charset="0"/>
                <a:ea typeface="Calibri" panose="020F0502020204030204" pitchFamily="34" charset="0"/>
                <a:cs typeface="Calibri" panose="020F0502020204030204" pitchFamily="34" charset="0"/>
                <a:hlinkClick r:id="rId2"/>
              </a:rPr>
              <a:t>https://drive.google.com/file/d/1fhPArrnkYnQcePrer0aPq9YrS7Pu4-22/view?usp=drivesdk</a:t>
            </a:r>
            <a:endParaRPr lang="en-IN" sz="1400" i="0" dirty="0">
              <a:latin typeface="Calibri" panose="020F0502020204030204" pitchFamily="34" charset="0"/>
              <a:ea typeface="Calibri" panose="020F0502020204030204" pitchFamily="34" charset="0"/>
              <a:cs typeface="Calibri" panose="020F0502020204030204" pitchFamily="34" charset="0"/>
            </a:endParaRPr>
          </a:p>
        </p:txBody>
      </p:sp>
      <p:pic>
        <p:nvPicPr>
          <p:cNvPr id="27" name="Picture 26">
            <a:extLst>
              <a:ext uri="{FF2B5EF4-FFF2-40B4-BE49-F238E27FC236}">
                <a16:creationId xmlns:a16="http://schemas.microsoft.com/office/drawing/2014/main" id="{84E6D662-79CB-2BB4-B68E-F23173D9E40A}"/>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072603" y="6038502"/>
            <a:ext cx="196377" cy="175954"/>
          </a:xfrm>
          <a:prstGeom prst="rect">
            <a:avLst/>
          </a:prstGeom>
        </p:spPr>
      </p:pic>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548640" y="320040"/>
            <a:ext cx="11091672" cy="777240"/>
          </a:xfrm>
        </p:spPr>
        <p:txBody>
          <a:bodyPr wrap="square" anchor="ctr">
            <a:noAutofit/>
          </a:bodyPr>
          <a:lstStyle/>
          <a:p>
            <a:pPr marL="0" indent="0" algn="l">
              <a:spcAft>
                <a:spcPts val="0"/>
              </a:spcAft>
              <a:buNone/>
            </a:pPr>
            <a:r>
              <a:rPr sz="2800" b="1" i="0">
                <a:solidFill>
                  <a:srgbClr val="704EA6"/>
                </a:solidFill>
                <a:latin typeface="Calibri"/>
              </a:rPr>
              <a:t>TOOLS &amp; TECH STACK</a:t>
            </a:r>
            <a:endParaRPr lang="en-IN" b="1" dirty="0">
              <a:solidFill>
                <a:srgbClr val="704EA6"/>
              </a:solidFill>
            </a:endParaRPr>
          </a:p>
        </p:txBody>
      </p:sp>
      <p:sp>
        <p:nvSpPr>
          <p:cNvPr id="3" name="Rounded Rectangle 2"/>
          <p:cNvSpPr/>
          <p:nvPr/>
        </p:nvSpPr>
        <p:spPr>
          <a:xfrm>
            <a:off x="548640" y="1371600"/>
            <a:ext cx="3547872" cy="233172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600"/>
              </a:spcAft>
              <a:buNone/>
            </a:pPr>
            <a:r>
              <a:rPr sz="1100" b="1" i="0">
                <a:solidFill>
                  <a:srgbClr val="6D28D9"/>
                </a:solidFill>
                <a:latin typeface="Arial"/>
              </a:rPr>
              <a:t>REALTIME MODEL</a:t>
            </a:r>
          </a:p>
          <a:p>
            <a:pPr marL="0" indent="0" algn="l">
              <a:spcAft>
                <a:spcPts val="1000"/>
              </a:spcAft>
              <a:buNone/>
            </a:pPr>
            <a:r>
              <a:rPr sz="1800" b="1" i="0">
                <a:solidFill>
                  <a:srgbClr val="14142B"/>
                </a:solidFill>
                <a:latin typeface="Arial"/>
              </a:rPr>
              <a:t>Gemini 2.5 Flash Native Audio</a:t>
            </a:r>
          </a:p>
          <a:p>
            <a:pPr marL="182880" indent="-182880" algn="l">
              <a:spcAft>
                <a:spcPts val="600"/>
              </a:spcAft>
              <a:buClr>
                <a:srgbClr val="6D28D9"/>
              </a:buClr>
              <a:buChar char="•"/>
            </a:pPr>
            <a:r>
              <a:rPr sz="1600" b="0" i="0">
                <a:solidFill>
                  <a:srgbClr val="63637E"/>
                </a:solidFill>
                <a:latin typeface="Calibri"/>
              </a:rPr>
              <a:t>Native audio input / output</a:t>
            </a:r>
          </a:p>
          <a:p>
            <a:pPr marL="182880" indent="-182880" algn="l">
              <a:spcAft>
                <a:spcPts val="600"/>
              </a:spcAft>
              <a:buClr>
                <a:srgbClr val="6D28D9"/>
              </a:buClr>
              <a:buChar char="•"/>
            </a:pPr>
            <a:r>
              <a:rPr sz="1600" b="0" i="0">
                <a:solidFill>
                  <a:srgbClr val="63637E"/>
                </a:solidFill>
                <a:latin typeface="Calibri"/>
              </a:rPr>
              <a:t>Realtime interaction</a:t>
            </a:r>
          </a:p>
          <a:p>
            <a:pPr marL="182880" indent="-182880" algn="l">
              <a:spcAft>
                <a:spcPts val="600"/>
              </a:spcAft>
              <a:buClr>
                <a:srgbClr val="6D28D9"/>
              </a:buClr>
              <a:buChar char="•"/>
            </a:pPr>
            <a:r>
              <a:rPr sz="1600" b="0" i="0">
                <a:solidFill>
                  <a:srgbClr val="63637E"/>
                </a:solidFill>
                <a:latin typeface="Calibri"/>
              </a:rPr>
              <a:t>Function calling</a:t>
            </a:r>
          </a:p>
        </p:txBody>
      </p:sp>
      <p:sp>
        <p:nvSpPr>
          <p:cNvPr id="4" name="Rounded Rectangle 3"/>
          <p:cNvSpPr/>
          <p:nvPr/>
        </p:nvSpPr>
        <p:spPr>
          <a:xfrm>
            <a:off x="4320540" y="1371600"/>
            <a:ext cx="3547872" cy="233172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600"/>
              </a:spcAft>
              <a:buNone/>
            </a:pPr>
            <a:r>
              <a:rPr sz="1100" b="1" i="0">
                <a:solidFill>
                  <a:srgbClr val="6D28D9"/>
                </a:solidFill>
                <a:latin typeface="Arial"/>
              </a:rPr>
              <a:t>REALTIME INFRASTRUCTURE</a:t>
            </a:r>
          </a:p>
          <a:p>
            <a:pPr marL="0" indent="0" algn="l">
              <a:spcAft>
                <a:spcPts val="1000"/>
              </a:spcAft>
              <a:buNone/>
            </a:pPr>
            <a:r>
              <a:rPr sz="1800" b="1" i="0">
                <a:solidFill>
                  <a:srgbClr val="14142B"/>
                </a:solidFill>
                <a:latin typeface="Arial"/>
              </a:rPr>
              <a:t>LiveKit RTC + LiveKit Agents</a:t>
            </a:r>
          </a:p>
          <a:p>
            <a:pPr marL="182880" indent="-182880" algn="l">
              <a:spcAft>
                <a:spcPts val="600"/>
              </a:spcAft>
              <a:buClr>
                <a:srgbClr val="6D28D9"/>
              </a:buClr>
              <a:buChar char="•"/>
            </a:pPr>
            <a:r>
              <a:rPr sz="1600" b="0" i="0">
                <a:solidFill>
                  <a:srgbClr val="63637E"/>
                </a:solidFill>
                <a:latin typeface="Calibri"/>
              </a:rPr>
              <a:t>WebRTC audio transport</a:t>
            </a:r>
          </a:p>
          <a:p>
            <a:pPr marL="182880" indent="-182880" algn="l">
              <a:spcAft>
                <a:spcPts val="600"/>
              </a:spcAft>
              <a:buClr>
                <a:srgbClr val="6D28D9"/>
              </a:buClr>
              <a:buChar char="•"/>
            </a:pPr>
            <a:r>
              <a:rPr sz="1600" b="0" i="0">
                <a:solidFill>
                  <a:srgbClr val="63637E"/>
                </a:solidFill>
                <a:latin typeface="Calibri"/>
              </a:rPr>
              <a:t>AgentSession</a:t>
            </a:r>
          </a:p>
          <a:p>
            <a:pPr marL="182880" indent="-182880" algn="l">
              <a:spcAft>
                <a:spcPts val="600"/>
              </a:spcAft>
              <a:buClr>
                <a:srgbClr val="6D28D9"/>
              </a:buClr>
              <a:buChar char="•"/>
            </a:pPr>
            <a:r>
              <a:rPr sz="1600" b="0" i="0">
                <a:solidFill>
                  <a:srgbClr val="63637E"/>
                </a:solidFill>
                <a:latin typeface="Calibri"/>
              </a:rPr>
              <a:t>Realtime agent execution</a:t>
            </a:r>
          </a:p>
        </p:txBody>
      </p:sp>
      <p:sp>
        <p:nvSpPr>
          <p:cNvPr id="5" name="Rounded Rectangle 4"/>
          <p:cNvSpPr/>
          <p:nvPr/>
        </p:nvSpPr>
        <p:spPr>
          <a:xfrm>
            <a:off x="8092440" y="1371600"/>
            <a:ext cx="3547872" cy="233172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600"/>
              </a:spcAft>
              <a:buNone/>
            </a:pPr>
            <a:r>
              <a:rPr sz="1100" b="1" i="0">
                <a:solidFill>
                  <a:srgbClr val="6D28D9"/>
                </a:solidFill>
                <a:latin typeface="Arial"/>
              </a:rPr>
              <a:t>IMPLEMENTATION</a:t>
            </a:r>
          </a:p>
          <a:p>
            <a:pPr marL="0" indent="0" algn="l">
              <a:spcAft>
                <a:spcPts val="1000"/>
              </a:spcAft>
              <a:buNone/>
            </a:pPr>
            <a:r>
              <a:rPr sz="1800" b="1" i="0">
                <a:solidFill>
                  <a:srgbClr val="14142B"/>
                </a:solidFill>
                <a:latin typeface="Arial"/>
              </a:rPr>
              <a:t>Python</a:t>
            </a:r>
          </a:p>
          <a:p>
            <a:pPr marL="182880" indent="-182880" algn="l">
              <a:spcAft>
                <a:spcPts val="600"/>
              </a:spcAft>
              <a:buClr>
                <a:srgbClr val="6D28D9"/>
              </a:buClr>
              <a:buChar char="•"/>
            </a:pPr>
            <a:r>
              <a:rPr sz="1600" b="0" i="0">
                <a:solidFill>
                  <a:srgbClr val="63637E"/>
                </a:solidFill>
                <a:latin typeface="Calibri"/>
              </a:rPr>
              <a:t>Async tool functions</a:t>
            </a:r>
          </a:p>
          <a:p>
            <a:pPr marL="182880" indent="-182880" algn="l">
              <a:spcAft>
                <a:spcPts val="600"/>
              </a:spcAft>
              <a:buClr>
                <a:srgbClr val="6D28D9"/>
              </a:buClr>
              <a:buChar char="•"/>
            </a:pPr>
            <a:r>
              <a:rPr sz="1600" b="0" i="0">
                <a:solidFill>
                  <a:srgbClr val="63637E"/>
                </a:solidFill>
                <a:latin typeface="Calibri"/>
              </a:rPr>
              <a:t>Benchmark integration</a:t>
            </a:r>
          </a:p>
          <a:p>
            <a:pPr marL="182880" indent="-182880" algn="l">
              <a:spcAft>
                <a:spcPts val="600"/>
              </a:spcAft>
              <a:buClr>
                <a:srgbClr val="6D28D9"/>
              </a:buClr>
              <a:buChar char="•"/>
            </a:pPr>
            <a:r>
              <a:rPr sz="1600" b="0" i="0">
                <a:solidFill>
                  <a:srgbClr val="63637E"/>
                </a:solidFill>
                <a:latin typeface="Calibri"/>
              </a:rPr>
              <a:t>Latency tracking</a:t>
            </a:r>
          </a:p>
        </p:txBody>
      </p:sp>
      <p:sp>
        <p:nvSpPr>
          <p:cNvPr id="6" name="Rounded Rectangle 5"/>
          <p:cNvSpPr/>
          <p:nvPr/>
        </p:nvSpPr>
        <p:spPr>
          <a:xfrm>
            <a:off x="548640" y="3931920"/>
            <a:ext cx="3547872" cy="233172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600"/>
              </a:spcAft>
              <a:buNone/>
            </a:pPr>
            <a:r>
              <a:rPr sz="1100" b="1" i="0">
                <a:solidFill>
                  <a:srgbClr val="6D28D9"/>
                </a:solidFill>
                <a:latin typeface="Arial"/>
              </a:rPr>
              <a:t>TOOL LAYER</a:t>
            </a:r>
          </a:p>
          <a:p>
            <a:pPr marL="0" indent="0" algn="l">
              <a:spcAft>
                <a:spcPts val="1000"/>
              </a:spcAft>
              <a:buNone/>
            </a:pPr>
            <a:r>
              <a:rPr sz="1800" b="1" i="0">
                <a:solidFill>
                  <a:srgbClr val="14142B"/>
                </a:solidFill>
                <a:latin typeface="Arial"/>
              </a:rPr>
              <a:t>12 Mock APIs</a:t>
            </a:r>
          </a:p>
          <a:p>
            <a:pPr marL="182880" indent="-182880" algn="l">
              <a:spcAft>
                <a:spcPts val="600"/>
              </a:spcAft>
              <a:buClr>
                <a:srgbClr val="6D28D9"/>
              </a:buClr>
              <a:buChar char="•"/>
            </a:pPr>
            <a:r>
              <a:rPr sz="1600" b="0" i="0">
                <a:solidFill>
                  <a:srgbClr val="63637E"/>
                </a:solidFill>
                <a:latin typeface="Calibri"/>
              </a:rPr>
              <a:t>Travel</a:t>
            </a:r>
          </a:p>
          <a:p>
            <a:pPr marL="182880" indent="-182880" algn="l">
              <a:spcAft>
                <a:spcPts val="600"/>
              </a:spcAft>
              <a:buClr>
                <a:srgbClr val="6D28D9"/>
              </a:buClr>
              <a:buChar char="•"/>
            </a:pPr>
            <a:r>
              <a:rPr sz="1600" b="0" i="0">
                <a:solidFill>
                  <a:srgbClr val="63637E"/>
                </a:solidFill>
                <a:latin typeface="Calibri"/>
              </a:rPr>
              <a:t>Finance</a:t>
            </a:r>
          </a:p>
          <a:p>
            <a:pPr marL="182880" indent="-182880" algn="l">
              <a:spcAft>
                <a:spcPts val="600"/>
              </a:spcAft>
              <a:buClr>
                <a:srgbClr val="6D28D9"/>
              </a:buClr>
              <a:buChar char="•"/>
            </a:pPr>
            <a:r>
              <a:rPr sz="1600" b="0" i="0">
                <a:solidFill>
                  <a:srgbClr val="63637E"/>
                </a:solidFill>
                <a:latin typeface="Calibri"/>
              </a:rPr>
              <a:t>Housing · E-Commerce</a:t>
            </a:r>
          </a:p>
        </p:txBody>
      </p:sp>
      <p:sp>
        <p:nvSpPr>
          <p:cNvPr id="7" name="Rounded Rectangle 6"/>
          <p:cNvSpPr/>
          <p:nvPr/>
        </p:nvSpPr>
        <p:spPr>
          <a:xfrm>
            <a:off x="4320540" y="3931920"/>
            <a:ext cx="3547872" cy="233172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600"/>
              </a:spcAft>
              <a:buNone/>
            </a:pPr>
            <a:r>
              <a:rPr sz="1100" b="1" i="0">
                <a:solidFill>
                  <a:srgbClr val="6D28D9"/>
                </a:solidFill>
                <a:latin typeface="Arial"/>
              </a:rPr>
              <a:t>EVALUATION</a:t>
            </a:r>
          </a:p>
          <a:p>
            <a:pPr marL="0" indent="0" algn="l">
              <a:spcAft>
                <a:spcPts val="1000"/>
              </a:spcAft>
              <a:buNone/>
            </a:pPr>
            <a:r>
              <a:rPr sz="1800" b="1" i="0">
                <a:solidFill>
                  <a:srgbClr val="14142B"/>
                </a:solidFill>
                <a:latin typeface="Arial"/>
              </a:rPr>
              <a:t>FDB-v3 Benchmark</a:t>
            </a:r>
          </a:p>
          <a:p>
            <a:pPr marL="182880" indent="-182880" algn="l">
              <a:spcAft>
                <a:spcPts val="600"/>
              </a:spcAft>
              <a:buClr>
                <a:srgbClr val="6D28D9"/>
              </a:buClr>
              <a:buChar char="•"/>
            </a:pPr>
            <a:r>
              <a:rPr sz="1600" b="0" i="0">
                <a:solidFill>
                  <a:srgbClr val="63637E"/>
                </a:solidFill>
                <a:latin typeface="Calibri"/>
              </a:rPr>
              <a:t>Tool F1</a:t>
            </a:r>
          </a:p>
          <a:p>
            <a:pPr marL="182880" indent="-182880" algn="l">
              <a:spcAft>
                <a:spcPts val="600"/>
              </a:spcAft>
              <a:buClr>
                <a:srgbClr val="6D28D9"/>
              </a:buClr>
              <a:buChar char="•"/>
            </a:pPr>
            <a:r>
              <a:rPr sz="1600" b="0" i="0">
                <a:solidFill>
                  <a:srgbClr val="63637E"/>
                </a:solidFill>
                <a:latin typeface="Calibri"/>
              </a:rPr>
              <a:t>Argument Accuracy</a:t>
            </a:r>
          </a:p>
          <a:p>
            <a:pPr marL="182880" indent="-182880" algn="l">
              <a:spcAft>
                <a:spcPts val="600"/>
              </a:spcAft>
              <a:buClr>
                <a:srgbClr val="6D28D9"/>
              </a:buClr>
              <a:buChar char="•"/>
            </a:pPr>
            <a:r>
              <a:rPr sz="1600" b="0" i="0">
                <a:solidFill>
                  <a:srgbClr val="63637E"/>
                </a:solidFill>
                <a:latin typeface="Calibri"/>
              </a:rPr>
              <a:t>Strict Pass · Latency</a:t>
            </a:r>
          </a:p>
        </p:txBody>
      </p:sp>
      <p:sp>
        <p:nvSpPr>
          <p:cNvPr id="8" name="Rounded Rectangle 7"/>
          <p:cNvSpPr/>
          <p:nvPr/>
        </p:nvSpPr>
        <p:spPr>
          <a:xfrm>
            <a:off x="8092440" y="3931920"/>
            <a:ext cx="3547872" cy="233172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600"/>
              </a:spcAft>
              <a:buNone/>
            </a:pPr>
            <a:r>
              <a:rPr sz="1100" b="1" i="0">
                <a:solidFill>
                  <a:srgbClr val="6D28D9"/>
                </a:solidFill>
                <a:latin typeface="Arial"/>
              </a:rPr>
              <a:t>REPRODUCIBILITY</a:t>
            </a:r>
          </a:p>
          <a:p>
            <a:pPr marL="0" indent="0" algn="l">
              <a:spcAft>
                <a:spcPts val="1000"/>
              </a:spcAft>
              <a:buNone/>
            </a:pPr>
            <a:r>
              <a:rPr sz="1800" b="1" i="0">
                <a:solidFill>
                  <a:srgbClr val="14142B"/>
                </a:solidFill>
                <a:latin typeface="Arial"/>
              </a:rPr>
              <a:t>One-command reproduction</a:t>
            </a:r>
          </a:p>
          <a:p>
            <a:pPr marL="0" indent="0" algn="l">
              <a:spcAft>
                <a:spcPts val="400"/>
              </a:spcAft>
              <a:buNone/>
            </a:pPr>
            <a:r>
              <a:rPr sz="1400" b="0" i="0">
                <a:solidFill>
                  <a:srgbClr val="14142B"/>
                </a:solidFill>
                <a:latin typeface="Consolas"/>
              </a:rPr>
              <a:t>reproduce.ps1 / reproduce.sh</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548640" y="320040"/>
            <a:ext cx="11091672" cy="777240"/>
          </a:xfrm>
        </p:spPr>
        <p:txBody>
          <a:bodyPr wrap="square" anchor="ctr">
            <a:noAutofit/>
          </a:bodyPr>
          <a:lstStyle/>
          <a:p>
            <a:pPr marL="0" indent="0" algn="l">
              <a:spcAft>
                <a:spcPts val="0"/>
              </a:spcAft>
              <a:buNone/>
            </a:pPr>
            <a:r>
              <a:rPr sz="2800" b="1" i="0">
                <a:solidFill>
                  <a:srgbClr val="704EA6"/>
                </a:solidFill>
                <a:latin typeface="Calibri"/>
              </a:rPr>
              <a:t>WHERE INTERRUPTIBLE VOICE AGENTS MATTER</a:t>
            </a:r>
            <a:endParaRPr lang="en-IN" b="1" dirty="0">
              <a:solidFill>
                <a:srgbClr val="704EA6"/>
              </a:solidFill>
            </a:endParaRPr>
          </a:p>
        </p:txBody>
      </p:sp>
      <p:sp>
        <p:nvSpPr>
          <p:cNvPr id="3" name="Rounded Rectangle 2"/>
          <p:cNvSpPr/>
          <p:nvPr/>
        </p:nvSpPr>
        <p:spPr>
          <a:xfrm>
            <a:off x="548640" y="1371600"/>
            <a:ext cx="2606040" cy="324612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400"/>
              </a:spcAft>
              <a:buNone/>
            </a:pPr>
            <a:endParaRPr/>
          </a:p>
        </p:txBody>
      </p:sp>
      <p:sp>
        <p:nvSpPr>
          <p:cNvPr id="4" name="Oval 3"/>
          <p:cNvSpPr/>
          <p:nvPr/>
        </p:nvSpPr>
        <p:spPr>
          <a:xfrm>
            <a:off x="777240" y="1600200"/>
            <a:ext cx="822960" cy="822960"/>
          </a:xfrm>
          <a:prstGeom prst="ellipse">
            <a:avLst/>
          </a:prstGeom>
          <a:solidFill>
            <a:srgbClr val="FFFFFF"/>
          </a:solidFill>
          <a:ln w="12700">
            <a:solidFill>
              <a:srgbClr val="D9D3F0"/>
            </a:solidFill>
          </a:ln>
        </p:spPr>
        <p:txBody>
          <a:bodyPr wrap="square" lIns="0" tIns="0" rIns="0" bIns="0" rtlCol="0" anchor="ctr">
            <a:noAutofit/>
          </a:bodyPr>
          <a:lstStyle/>
          <a:p>
            <a:pPr marL="0" indent="0" algn="ctr">
              <a:spcAft>
                <a:spcPts val="0"/>
              </a:spcAft>
              <a:buNone/>
            </a:pPr>
            <a:r>
              <a:rPr sz="2800" b="1" i="0">
                <a:solidFill>
                  <a:srgbClr val="6D28D9"/>
                </a:solidFill>
                <a:latin typeface="Segoe UI Emoji"/>
              </a:rPr>
              <a:t>🚗</a:t>
            </a:r>
          </a:p>
        </p:txBody>
      </p:sp>
      <p:sp>
        <p:nvSpPr>
          <p:cNvPr id="5" name="TextBox 4"/>
          <p:cNvSpPr txBox="1"/>
          <p:nvPr/>
        </p:nvSpPr>
        <p:spPr>
          <a:xfrm>
            <a:off x="777240" y="2651760"/>
            <a:ext cx="2148840" cy="365760"/>
          </a:xfrm>
          <a:prstGeom prst="rect">
            <a:avLst/>
          </a:prstGeom>
          <a:noFill/>
        </p:spPr>
        <p:txBody>
          <a:bodyPr wrap="square" lIns="0" tIns="0" rIns="0" bIns="0" anchor="t">
            <a:noAutofit/>
          </a:bodyPr>
          <a:lstStyle/>
          <a:p>
            <a:pPr marL="0" indent="0" algn="l">
              <a:spcAft>
                <a:spcPts val="400"/>
              </a:spcAft>
              <a:buNone/>
            </a:pPr>
            <a:r>
              <a:rPr sz="1800" b="1" i="0">
                <a:solidFill>
                  <a:srgbClr val="14142B"/>
                </a:solidFill>
                <a:latin typeface="Arial"/>
              </a:rPr>
              <a:t>DRIVING</a:t>
            </a:r>
          </a:p>
        </p:txBody>
      </p:sp>
      <p:sp>
        <p:nvSpPr>
          <p:cNvPr id="6" name="TextBox 5"/>
          <p:cNvSpPr txBox="1"/>
          <p:nvPr/>
        </p:nvSpPr>
        <p:spPr>
          <a:xfrm>
            <a:off x="777240" y="3108960"/>
            <a:ext cx="2148840" cy="1463040"/>
          </a:xfrm>
          <a:prstGeom prst="rect">
            <a:avLst/>
          </a:prstGeom>
          <a:noFill/>
        </p:spPr>
        <p:txBody>
          <a:bodyPr wrap="square" lIns="0" tIns="0" rIns="0" bIns="0" anchor="t">
            <a:noAutofit/>
          </a:bodyPr>
          <a:lstStyle/>
          <a:p>
            <a:pPr marL="0" indent="0" algn="l">
              <a:spcAft>
                <a:spcPts val="400"/>
              </a:spcAft>
              <a:buNone/>
            </a:pPr>
            <a:r>
              <a:rPr sz="1500" b="0" i="0">
                <a:solidFill>
                  <a:srgbClr val="63637E"/>
                </a:solidFill>
                <a:latin typeface="Calibri"/>
              </a:rPr>
              <a:t>Hands-free requests where users frequently interrupt or redirect.</a:t>
            </a:r>
          </a:p>
        </p:txBody>
      </p:sp>
      <p:sp>
        <p:nvSpPr>
          <p:cNvPr id="7" name="Rounded Rectangle 6"/>
          <p:cNvSpPr/>
          <p:nvPr/>
        </p:nvSpPr>
        <p:spPr>
          <a:xfrm>
            <a:off x="3376879" y="1371600"/>
            <a:ext cx="2606040" cy="324612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400"/>
              </a:spcAft>
              <a:buNone/>
            </a:pPr>
            <a:endParaRPr/>
          </a:p>
        </p:txBody>
      </p:sp>
      <p:sp>
        <p:nvSpPr>
          <p:cNvPr id="8" name="Oval 7"/>
          <p:cNvSpPr/>
          <p:nvPr/>
        </p:nvSpPr>
        <p:spPr>
          <a:xfrm>
            <a:off x="3605479" y="1600200"/>
            <a:ext cx="822960" cy="822960"/>
          </a:xfrm>
          <a:prstGeom prst="ellipse">
            <a:avLst/>
          </a:prstGeom>
          <a:solidFill>
            <a:srgbClr val="FFFFFF"/>
          </a:solidFill>
          <a:ln w="12700">
            <a:solidFill>
              <a:srgbClr val="D9D3F0"/>
            </a:solidFill>
          </a:ln>
        </p:spPr>
        <p:txBody>
          <a:bodyPr wrap="square" lIns="0" tIns="0" rIns="0" bIns="0" rtlCol="0" anchor="ctr">
            <a:noAutofit/>
          </a:bodyPr>
          <a:lstStyle/>
          <a:p>
            <a:pPr marL="0" indent="0" algn="ctr">
              <a:spcAft>
                <a:spcPts val="0"/>
              </a:spcAft>
              <a:buNone/>
            </a:pPr>
            <a:r>
              <a:rPr sz="2800" b="1" i="0">
                <a:solidFill>
                  <a:srgbClr val="6D28D9"/>
                </a:solidFill>
                <a:latin typeface="Segoe UI Emoji"/>
              </a:rPr>
              <a:t>🛒</a:t>
            </a:r>
          </a:p>
        </p:txBody>
      </p:sp>
      <p:sp>
        <p:nvSpPr>
          <p:cNvPr id="9" name="TextBox 8"/>
          <p:cNvSpPr txBox="1"/>
          <p:nvPr/>
        </p:nvSpPr>
        <p:spPr>
          <a:xfrm>
            <a:off x="3605479" y="2651760"/>
            <a:ext cx="2148840" cy="365760"/>
          </a:xfrm>
          <a:prstGeom prst="rect">
            <a:avLst/>
          </a:prstGeom>
          <a:noFill/>
        </p:spPr>
        <p:txBody>
          <a:bodyPr wrap="square" lIns="0" tIns="0" rIns="0" bIns="0" anchor="t">
            <a:noAutofit/>
          </a:bodyPr>
          <a:lstStyle/>
          <a:p>
            <a:pPr marL="0" indent="0" algn="l">
              <a:spcAft>
                <a:spcPts val="400"/>
              </a:spcAft>
              <a:buNone/>
            </a:pPr>
            <a:r>
              <a:rPr sz="1800" b="1" i="0">
                <a:solidFill>
                  <a:srgbClr val="14142B"/>
                </a:solidFill>
                <a:latin typeface="Arial"/>
              </a:rPr>
              <a:t>SHOPPING</a:t>
            </a:r>
          </a:p>
        </p:txBody>
      </p:sp>
      <p:sp>
        <p:nvSpPr>
          <p:cNvPr id="10" name="TextBox 9"/>
          <p:cNvSpPr txBox="1"/>
          <p:nvPr/>
        </p:nvSpPr>
        <p:spPr>
          <a:xfrm>
            <a:off x="3605479" y="3108960"/>
            <a:ext cx="2148840" cy="1463040"/>
          </a:xfrm>
          <a:prstGeom prst="rect">
            <a:avLst/>
          </a:prstGeom>
          <a:noFill/>
        </p:spPr>
        <p:txBody>
          <a:bodyPr wrap="square" lIns="0" tIns="0" rIns="0" bIns="0" anchor="t">
            <a:noAutofit/>
          </a:bodyPr>
          <a:lstStyle/>
          <a:p>
            <a:pPr marL="0" indent="0" algn="l">
              <a:spcAft>
                <a:spcPts val="400"/>
              </a:spcAft>
              <a:buNone/>
            </a:pPr>
            <a:r>
              <a:rPr sz="1500" b="0" i="0">
                <a:solidFill>
                  <a:srgbClr val="63637E"/>
                </a:solidFill>
                <a:latin typeface="Calibri"/>
              </a:rPr>
              <a:t>Change products, quantities, filters and preferences mid-conversation.</a:t>
            </a:r>
          </a:p>
        </p:txBody>
      </p:sp>
      <p:sp>
        <p:nvSpPr>
          <p:cNvPr id="11" name="Rounded Rectangle 10"/>
          <p:cNvSpPr/>
          <p:nvPr/>
        </p:nvSpPr>
        <p:spPr>
          <a:xfrm>
            <a:off x="6205118" y="1371600"/>
            <a:ext cx="2606040" cy="324612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400"/>
              </a:spcAft>
              <a:buNone/>
            </a:pPr>
            <a:endParaRPr/>
          </a:p>
        </p:txBody>
      </p:sp>
      <p:sp>
        <p:nvSpPr>
          <p:cNvPr id="12" name="Oval 11"/>
          <p:cNvSpPr/>
          <p:nvPr/>
        </p:nvSpPr>
        <p:spPr>
          <a:xfrm>
            <a:off x="6433718" y="1600200"/>
            <a:ext cx="822960" cy="822960"/>
          </a:xfrm>
          <a:prstGeom prst="ellipse">
            <a:avLst/>
          </a:prstGeom>
          <a:solidFill>
            <a:srgbClr val="FFFFFF"/>
          </a:solidFill>
          <a:ln w="12700">
            <a:solidFill>
              <a:srgbClr val="D9D3F0"/>
            </a:solidFill>
          </a:ln>
        </p:spPr>
        <p:txBody>
          <a:bodyPr wrap="square" lIns="0" tIns="0" rIns="0" bIns="0" rtlCol="0" anchor="ctr">
            <a:noAutofit/>
          </a:bodyPr>
          <a:lstStyle/>
          <a:p>
            <a:pPr marL="0" indent="0" algn="ctr">
              <a:spcAft>
                <a:spcPts val="0"/>
              </a:spcAft>
              <a:buNone/>
            </a:pPr>
            <a:r>
              <a:rPr sz="2800" b="1" i="0">
                <a:solidFill>
                  <a:srgbClr val="6D28D9"/>
                </a:solidFill>
                <a:latin typeface="Segoe UI Emoji"/>
              </a:rPr>
              <a:t>✈️</a:t>
            </a:r>
          </a:p>
        </p:txBody>
      </p:sp>
      <p:sp>
        <p:nvSpPr>
          <p:cNvPr id="13" name="TextBox 12"/>
          <p:cNvSpPr txBox="1"/>
          <p:nvPr/>
        </p:nvSpPr>
        <p:spPr>
          <a:xfrm>
            <a:off x="6433718" y="2651760"/>
            <a:ext cx="2148840" cy="365760"/>
          </a:xfrm>
          <a:prstGeom prst="rect">
            <a:avLst/>
          </a:prstGeom>
          <a:noFill/>
        </p:spPr>
        <p:txBody>
          <a:bodyPr wrap="square" lIns="0" tIns="0" rIns="0" bIns="0" anchor="t">
            <a:noAutofit/>
          </a:bodyPr>
          <a:lstStyle/>
          <a:p>
            <a:pPr marL="0" indent="0" algn="l">
              <a:spcAft>
                <a:spcPts val="400"/>
              </a:spcAft>
              <a:buNone/>
            </a:pPr>
            <a:r>
              <a:rPr sz="1800" b="1" i="0">
                <a:solidFill>
                  <a:srgbClr val="14142B"/>
                </a:solidFill>
                <a:latin typeface="Arial"/>
              </a:rPr>
              <a:t>TRAVEL</a:t>
            </a:r>
          </a:p>
        </p:txBody>
      </p:sp>
      <p:sp>
        <p:nvSpPr>
          <p:cNvPr id="14" name="TextBox 13"/>
          <p:cNvSpPr txBox="1"/>
          <p:nvPr/>
        </p:nvSpPr>
        <p:spPr>
          <a:xfrm>
            <a:off x="6433718" y="3108960"/>
            <a:ext cx="2148840" cy="1463040"/>
          </a:xfrm>
          <a:prstGeom prst="rect">
            <a:avLst/>
          </a:prstGeom>
          <a:noFill/>
        </p:spPr>
        <p:txBody>
          <a:bodyPr wrap="square" lIns="0" tIns="0" rIns="0" bIns="0" anchor="t">
            <a:noAutofit/>
          </a:bodyPr>
          <a:lstStyle/>
          <a:p>
            <a:pPr marL="0" indent="0" algn="l">
              <a:spcAft>
                <a:spcPts val="400"/>
              </a:spcAft>
              <a:buNone/>
            </a:pPr>
            <a:r>
              <a:rPr sz="1500" b="0" i="0">
                <a:solidFill>
                  <a:srgbClr val="63637E"/>
                </a:solidFill>
                <a:latin typeface="Calibri"/>
              </a:rPr>
              <a:t>Modify destinations, dates, passengers or booking preferences while planning.</a:t>
            </a:r>
          </a:p>
        </p:txBody>
      </p:sp>
      <p:sp>
        <p:nvSpPr>
          <p:cNvPr id="15" name="Rounded Rectangle 14"/>
          <p:cNvSpPr/>
          <p:nvPr/>
        </p:nvSpPr>
        <p:spPr>
          <a:xfrm>
            <a:off x="9033357" y="1371600"/>
            <a:ext cx="2606040" cy="324612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400"/>
              </a:spcAft>
              <a:buNone/>
            </a:pPr>
            <a:endParaRPr/>
          </a:p>
        </p:txBody>
      </p:sp>
      <p:sp>
        <p:nvSpPr>
          <p:cNvPr id="16" name="Oval 15"/>
          <p:cNvSpPr/>
          <p:nvPr/>
        </p:nvSpPr>
        <p:spPr>
          <a:xfrm>
            <a:off x="9261957" y="1600200"/>
            <a:ext cx="822960" cy="822960"/>
          </a:xfrm>
          <a:prstGeom prst="ellipse">
            <a:avLst/>
          </a:prstGeom>
          <a:solidFill>
            <a:srgbClr val="FFFFFF"/>
          </a:solidFill>
          <a:ln w="12700">
            <a:solidFill>
              <a:srgbClr val="D9D3F0"/>
            </a:solidFill>
          </a:ln>
        </p:spPr>
        <p:txBody>
          <a:bodyPr wrap="square" lIns="0" tIns="0" rIns="0" bIns="0" rtlCol="0" anchor="ctr">
            <a:noAutofit/>
          </a:bodyPr>
          <a:lstStyle/>
          <a:p>
            <a:pPr marL="0" indent="0" algn="ctr">
              <a:spcAft>
                <a:spcPts val="0"/>
              </a:spcAft>
              <a:buNone/>
            </a:pPr>
            <a:r>
              <a:rPr sz="2800" b="1" i="0">
                <a:solidFill>
                  <a:srgbClr val="6D28D9"/>
                </a:solidFill>
                <a:latin typeface="Segoe UI Emoji"/>
              </a:rPr>
              <a:t>💼</a:t>
            </a:r>
          </a:p>
        </p:txBody>
      </p:sp>
      <p:sp>
        <p:nvSpPr>
          <p:cNvPr id="17" name="TextBox 16"/>
          <p:cNvSpPr txBox="1"/>
          <p:nvPr/>
        </p:nvSpPr>
        <p:spPr>
          <a:xfrm>
            <a:off x="9261957" y="2651760"/>
            <a:ext cx="2148840" cy="365760"/>
          </a:xfrm>
          <a:prstGeom prst="rect">
            <a:avLst/>
          </a:prstGeom>
          <a:noFill/>
        </p:spPr>
        <p:txBody>
          <a:bodyPr wrap="square" lIns="0" tIns="0" rIns="0" bIns="0" anchor="t">
            <a:noAutofit/>
          </a:bodyPr>
          <a:lstStyle/>
          <a:p>
            <a:pPr marL="0" indent="0" algn="l">
              <a:spcAft>
                <a:spcPts val="400"/>
              </a:spcAft>
              <a:buNone/>
            </a:pPr>
            <a:r>
              <a:rPr sz="1800" b="1" i="0">
                <a:solidFill>
                  <a:srgbClr val="14142B"/>
                </a:solidFill>
                <a:latin typeface="Arial"/>
              </a:rPr>
              <a:t>PRODUCTIVITY</a:t>
            </a:r>
          </a:p>
        </p:txBody>
      </p:sp>
      <p:sp>
        <p:nvSpPr>
          <p:cNvPr id="18" name="TextBox 17"/>
          <p:cNvSpPr txBox="1"/>
          <p:nvPr/>
        </p:nvSpPr>
        <p:spPr>
          <a:xfrm>
            <a:off x="9261957" y="3108960"/>
            <a:ext cx="2148840" cy="1463040"/>
          </a:xfrm>
          <a:prstGeom prst="rect">
            <a:avLst/>
          </a:prstGeom>
          <a:noFill/>
        </p:spPr>
        <p:txBody>
          <a:bodyPr wrap="square" lIns="0" tIns="0" rIns="0" bIns="0" anchor="t">
            <a:noAutofit/>
          </a:bodyPr>
          <a:lstStyle/>
          <a:p>
            <a:pPr marL="0" indent="0" algn="l">
              <a:spcAft>
                <a:spcPts val="400"/>
              </a:spcAft>
              <a:buNone/>
            </a:pPr>
            <a:r>
              <a:rPr sz="1500" b="0" i="0">
                <a:solidFill>
                  <a:srgbClr val="63637E"/>
                </a:solidFill>
                <a:latin typeface="Calibri"/>
              </a:rPr>
              <a:t>Voice workflows where users naturally add, correct and reprioritize tasks.</a:t>
            </a:r>
          </a:p>
        </p:txBody>
      </p:sp>
      <p:sp>
        <p:nvSpPr>
          <p:cNvPr id="19" name="TextBox 18"/>
          <p:cNvSpPr txBox="1"/>
          <p:nvPr/>
        </p:nvSpPr>
        <p:spPr>
          <a:xfrm>
            <a:off x="548640" y="4709160"/>
            <a:ext cx="11091672" cy="365760"/>
          </a:xfrm>
          <a:prstGeom prst="rect">
            <a:avLst/>
          </a:prstGeom>
          <a:noFill/>
        </p:spPr>
        <p:txBody>
          <a:bodyPr wrap="square" lIns="0" tIns="0" rIns="0" bIns="0" anchor="ctr">
            <a:noAutofit/>
          </a:bodyPr>
          <a:lstStyle/>
          <a:p>
            <a:pPr marL="0" indent="0" algn="ctr">
              <a:spcAft>
                <a:spcPts val="400"/>
              </a:spcAft>
              <a:buNone/>
            </a:pPr>
            <a:r>
              <a:rPr sz="1300" b="0" i="1">
                <a:solidFill>
                  <a:srgbClr val="63637E"/>
                </a:solidFill>
                <a:latin typeface="Calibri"/>
              </a:rPr>
              <a:t>Intended use cases — not current production deployments.</a:t>
            </a:r>
          </a:p>
        </p:txBody>
      </p:sp>
      <p:sp>
        <p:nvSpPr>
          <p:cNvPr id="20" name="Rounded Rectangle 19"/>
          <p:cNvSpPr/>
          <p:nvPr/>
        </p:nvSpPr>
        <p:spPr>
          <a:xfrm>
            <a:off x="548640" y="5257800"/>
            <a:ext cx="11091672" cy="1005840"/>
          </a:xfrm>
          <a:prstGeom prst="roundRect">
            <a:avLst>
              <a:gd name="adj" fmla="val 10000"/>
            </a:avLst>
          </a:prstGeom>
          <a:solidFill>
            <a:srgbClr val="6D28D9"/>
          </a:solidFill>
          <a:ln>
            <a:noFill/>
          </a:ln>
        </p:spPr>
        <p:txBody>
          <a:bodyPr wrap="square" lIns="109728" tIns="54864" rIns="109728" bIns="54864" rtlCol="0" anchor="ctr">
            <a:noAutofit/>
          </a:bodyPr>
          <a:lstStyle/>
          <a:p>
            <a:pPr marL="0" indent="0" algn="ctr">
              <a:spcAft>
                <a:spcPts val="400"/>
              </a:spcAft>
              <a:buNone/>
            </a:pPr>
            <a:r>
              <a:rPr sz="1200" b="1" i="0">
                <a:solidFill>
                  <a:srgbClr val="D9D3F0"/>
                </a:solidFill>
                <a:latin typeface="Arial"/>
              </a:rPr>
              <a:t>DESIGN PRINCIPLE</a:t>
            </a:r>
          </a:p>
          <a:p>
            <a:pPr marL="0" indent="0" algn="ctr">
              <a:spcAft>
                <a:spcPts val="0"/>
              </a:spcAft>
              <a:buNone/>
            </a:pPr>
            <a:r>
              <a:rPr sz="2200" b="1" i="0">
                <a:solidFill>
                  <a:srgbClr val="FFFFFF"/>
                </a:solidFill>
                <a:latin typeface="Arial"/>
              </a:rPr>
              <a:t>The conversation should remain alive while the agent works.</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548640" y="320040"/>
            <a:ext cx="11091672" cy="777240"/>
          </a:xfrm>
        </p:spPr>
        <p:txBody>
          <a:bodyPr wrap="square" anchor="ctr">
            <a:noAutofit/>
          </a:bodyPr>
          <a:lstStyle/>
          <a:p>
            <a:pPr marL="0" indent="0" algn="l">
              <a:spcAft>
                <a:spcPts val="0"/>
              </a:spcAft>
              <a:buNone/>
            </a:pPr>
            <a:r>
              <a:rPr sz="2800" b="1" i="0">
                <a:solidFill>
                  <a:srgbClr val="704EA6"/>
                </a:solidFill>
                <a:latin typeface="Calibri"/>
              </a:rPr>
              <a:t>INNOVATION, RESULTS &amp; LIMITATIONS</a:t>
            </a:r>
            <a:endParaRPr lang="en-US" sz="4400" b="1" dirty="0">
              <a:solidFill>
                <a:srgbClr val="704EA6"/>
              </a:solidFill>
            </a:endParaRPr>
          </a:p>
        </p:txBody>
      </p:sp>
      <p:sp>
        <p:nvSpPr>
          <p:cNvPr id="3" name="Rounded Rectangle 2"/>
          <p:cNvSpPr/>
          <p:nvPr/>
        </p:nvSpPr>
        <p:spPr>
          <a:xfrm>
            <a:off x="548640" y="1371600"/>
            <a:ext cx="2834640" cy="4114800"/>
          </a:xfrm>
          <a:prstGeom prst="roundRect">
            <a:avLst>
              <a:gd name="adj" fmla="val 6000"/>
            </a:avLst>
          </a:prstGeom>
          <a:solidFill>
            <a:srgbClr val="F5F2FD"/>
          </a:solidFill>
          <a:ln w="12700">
            <a:solidFill>
              <a:srgbClr val="D9D3F0"/>
            </a:solidFill>
          </a:ln>
        </p:spPr>
        <p:txBody>
          <a:bodyPr wrap="square" lIns="182880" tIns="182880" rIns="182880" bIns="182880" rtlCol="0" anchor="t">
            <a:noAutofit/>
          </a:bodyPr>
          <a:lstStyle/>
          <a:p>
            <a:pPr marL="0" indent="0" algn="l">
              <a:spcAft>
                <a:spcPts val="1000"/>
              </a:spcAft>
              <a:buNone/>
            </a:pPr>
            <a:r>
              <a:rPr sz="1300" b="1" i="0">
                <a:solidFill>
                  <a:srgbClr val="6D28D9"/>
                </a:solidFill>
                <a:latin typeface="Arial"/>
              </a:rPr>
              <a:t>INNOVATION</a:t>
            </a:r>
          </a:p>
          <a:p>
            <a:pPr marL="182880" indent="-182880" algn="l">
              <a:spcAft>
                <a:spcPts val="800"/>
              </a:spcAft>
              <a:buClr>
                <a:srgbClr val="6D28D9"/>
              </a:buClr>
              <a:buChar char="•"/>
            </a:pPr>
            <a:r>
              <a:rPr sz="1400" b="0" i="0">
                <a:solidFill>
                  <a:srgbClr val="14142B"/>
                </a:solidFill>
                <a:latin typeface="Calibri"/>
              </a:rPr>
              <a:t>Native realtime audio architecture</a:t>
            </a:r>
          </a:p>
          <a:p>
            <a:pPr marL="182880" indent="-182880" algn="l">
              <a:spcAft>
                <a:spcPts val="800"/>
              </a:spcAft>
              <a:buClr>
                <a:srgbClr val="6D28D9"/>
              </a:buClr>
              <a:buChar char="•"/>
            </a:pPr>
            <a:r>
              <a:rPr sz="1400" b="0" i="0">
                <a:solidFill>
                  <a:srgbClr val="14142B"/>
                </a:solidFill>
                <a:latin typeface="Calibri"/>
              </a:rPr>
              <a:t>Function / tool interaction</a:t>
            </a:r>
          </a:p>
          <a:p>
            <a:pPr marL="182880" indent="-182880" algn="l">
              <a:spcAft>
                <a:spcPts val="800"/>
              </a:spcAft>
              <a:buClr>
                <a:srgbClr val="6D28D9"/>
              </a:buClr>
              <a:buChar char="•"/>
            </a:pPr>
            <a:r>
              <a:rPr sz="1400" b="0" i="0">
                <a:solidFill>
                  <a:srgbClr val="14142B"/>
                </a:solidFill>
                <a:latin typeface="Calibri"/>
              </a:rPr>
              <a:t>Benchmark-driven development</a:t>
            </a:r>
          </a:p>
          <a:p>
            <a:pPr marL="182880" indent="-182880" algn="l">
              <a:spcAft>
                <a:spcPts val="800"/>
              </a:spcAft>
              <a:buClr>
                <a:srgbClr val="6D28D9"/>
              </a:buClr>
              <a:buChar char="•"/>
            </a:pPr>
            <a:r>
              <a:rPr sz="1400" b="0" i="0">
                <a:solidFill>
                  <a:srgbClr val="14142B"/>
                </a:solidFill>
                <a:latin typeface="Calibri"/>
              </a:rPr>
              <a:t>Observable agent execution</a:t>
            </a:r>
          </a:p>
          <a:p>
            <a:pPr marL="182880" indent="-182880" algn="l">
              <a:spcAft>
                <a:spcPts val="800"/>
              </a:spcAft>
              <a:buClr>
                <a:srgbClr val="6D28D9"/>
              </a:buClr>
              <a:buChar char="•"/>
            </a:pPr>
            <a:r>
              <a:rPr sz="1400" b="0" i="0">
                <a:solidFill>
                  <a:srgbClr val="14142B"/>
                </a:solidFill>
                <a:latin typeface="Calibri"/>
              </a:rPr>
              <a:t>Reproducible evaluation pipeline</a:t>
            </a:r>
          </a:p>
        </p:txBody>
      </p:sp>
      <p:sp>
        <p:nvSpPr>
          <p:cNvPr id="4" name="TextBox 3"/>
          <p:cNvSpPr txBox="1"/>
          <p:nvPr/>
        </p:nvSpPr>
        <p:spPr>
          <a:xfrm>
            <a:off x="3520440" y="1371600"/>
            <a:ext cx="4754880" cy="274320"/>
          </a:xfrm>
          <a:prstGeom prst="rect">
            <a:avLst/>
          </a:prstGeom>
          <a:noFill/>
        </p:spPr>
        <p:txBody>
          <a:bodyPr wrap="square" lIns="0" tIns="0" rIns="0" bIns="0" anchor="t">
            <a:noAutofit/>
          </a:bodyPr>
          <a:lstStyle/>
          <a:p>
            <a:pPr marL="0" indent="0" algn="l">
              <a:spcAft>
                <a:spcPts val="400"/>
              </a:spcAft>
              <a:buNone/>
            </a:pPr>
            <a:r>
              <a:rPr sz="1300" b="1" i="0">
                <a:solidFill>
                  <a:srgbClr val="6D28D9"/>
                </a:solidFill>
                <a:latin typeface="Arial"/>
              </a:rPr>
              <a:t>MEASURED RESULTS</a:t>
            </a:r>
          </a:p>
        </p:txBody>
      </p:sp>
      <p:sp>
        <p:nvSpPr>
          <p:cNvPr id="5" name="Rounded Rectangle 4"/>
          <p:cNvSpPr/>
          <p:nvPr/>
        </p:nvSpPr>
        <p:spPr>
          <a:xfrm>
            <a:off x="3520440" y="1737360"/>
            <a:ext cx="1463040" cy="1691640"/>
          </a:xfrm>
          <a:prstGeom prst="roundRect">
            <a:avLst>
              <a:gd name="adj" fmla="val 8000"/>
            </a:avLst>
          </a:prstGeom>
          <a:solidFill>
            <a:srgbClr val="F5F2FD"/>
          </a:solidFill>
          <a:ln w="12700">
            <a:solidFill>
              <a:srgbClr val="D9D3F0"/>
            </a:solidFill>
          </a:ln>
        </p:spPr>
        <p:txBody>
          <a:bodyPr wrap="square" lIns="73152" tIns="73152" rIns="73152" bIns="73152" rtlCol="0" anchor="ctr">
            <a:noAutofit/>
          </a:bodyPr>
          <a:lstStyle/>
          <a:p>
            <a:pPr marL="0" indent="0" algn="ctr">
              <a:spcAft>
                <a:spcPts val="600"/>
              </a:spcAft>
              <a:buNone/>
            </a:pPr>
            <a:r>
              <a:rPr sz="2400" b="1" i="0">
                <a:solidFill>
                  <a:srgbClr val="6D28D9"/>
                </a:solidFill>
                <a:latin typeface="Arial"/>
              </a:rPr>
              <a:t>66.7%</a:t>
            </a:r>
          </a:p>
          <a:p>
            <a:pPr marL="0" indent="0" algn="ctr">
              <a:spcAft>
                <a:spcPts val="0"/>
              </a:spcAft>
              <a:buNone/>
            </a:pPr>
            <a:r>
              <a:rPr sz="1200" b="0" i="0">
                <a:solidFill>
                  <a:srgbClr val="63637E"/>
                </a:solidFill>
                <a:latin typeface="Calibri"/>
              </a:rPr>
              <a:t>Strict Pass Rate</a:t>
            </a:r>
          </a:p>
        </p:txBody>
      </p:sp>
      <p:sp>
        <p:nvSpPr>
          <p:cNvPr id="6" name="Rounded Rectangle 5"/>
          <p:cNvSpPr/>
          <p:nvPr/>
        </p:nvSpPr>
        <p:spPr>
          <a:xfrm>
            <a:off x="5166360" y="1737360"/>
            <a:ext cx="1463040" cy="1691640"/>
          </a:xfrm>
          <a:prstGeom prst="roundRect">
            <a:avLst>
              <a:gd name="adj" fmla="val 8000"/>
            </a:avLst>
          </a:prstGeom>
          <a:solidFill>
            <a:srgbClr val="F5F2FD"/>
          </a:solidFill>
          <a:ln w="12700">
            <a:solidFill>
              <a:srgbClr val="D9D3F0"/>
            </a:solidFill>
          </a:ln>
        </p:spPr>
        <p:txBody>
          <a:bodyPr wrap="square" lIns="73152" tIns="73152" rIns="73152" bIns="73152" rtlCol="0" anchor="ctr">
            <a:noAutofit/>
          </a:bodyPr>
          <a:lstStyle/>
          <a:p>
            <a:pPr marL="0" indent="0" algn="ctr">
              <a:spcAft>
                <a:spcPts val="600"/>
              </a:spcAft>
              <a:buNone/>
            </a:pPr>
            <a:r>
              <a:rPr sz="2400" b="1" i="0">
                <a:solidFill>
                  <a:srgbClr val="6D28D9"/>
                </a:solidFill>
                <a:latin typeface="Arial"/>
              </a:rPr>
              <a:t>0.759</a:t>
            </a:r>
          </a:p>
          <a:p>
            <a:pPr marL="0" indent="0" algn="ctr">
              <a:spcAft>
                <a:spcPts val="0"/>
              </a:spcAft>
              <a:buNone/>
            </a:pPr>
            <a:r>
              <a:rPr sz="1200" b="0" i="0">
                <a:solidFill>
                  <a:srgbClr val="63637E"/>
                </a:solidFill>
                <a:latin typeface="Calibri"/>
              </a:rPr>
              <a:t>Tool Selection F1</a:t>
            </a:r>
          </a:p>
        </p:txBody>
      </p:sp>
      <p:sp>
        <p:nvSpPr>
          <p:cNvPr id="7" name="Rounded Rectangle 6"/>
          <p:cNvSpPr/>
          <p:nvPr/>
        </p:nvSpPr>
        <p:spPr>
          <a:xfrm>
            <a:off x="6812280" y="1737360"/>
            <a:ext cx="1463040" cy="1691640"/>
          </a:xfrm>
          <a:prstGeom prst="roundRect">
            <a:avLst>
              <a:gd name="adj" fmla="val 8000"/>
            </a:avLst>
          </a:prstGeom>
          <a:solidFill>
            <a:srgbClr val="F5F2FD"/>
          </a:solidFill>
          <a:ln w="12700">
            <a:solidFill>
              <a:srgbClr val="D9D3F0"/>
            </a:solidFill>
          </a:ln>
        </p:spPr>
        <p:txBody>
          <a:bodyPr wrap="square" lIns="73152" tIns="73152" rIns="73152" bIns="73152" rtlCol="0" anchor="ctr">
            <a:noAutofit/>
          </a:bodyPr>
          <a:lstStyle/>
          <a:p>
            <a:pPr marL="0" indent="0" algn="ctr">
              <a:spcAft>
                <a:spcPts val="600"/>
              </a:spcAft>
              <a:buNone/>
            </a:pPr>
            <a:r>
              <a:rPr sz="2400" b="1" i="0">
                <a:solidFill>
                  <a:srgbClr val="6D28D9"/>
                </a:solidFill>
                <a:latin typeface="Arial"/>
              </a:rPr>
              <a:t>1.000</a:t>
            </a:r>
          </a:p>
          <a:p>
            <a:pPr marL="0" indent="0" algn="ctr">
              <a:spcAft>
                <a:spcPts val="0"/>
              </a:spcAft>
              <a:buNone/>
            </a:pPr>
            <a:r>
              <a:rPr sz="1200" b="0" i="0">
                <a:solidFill>
                  <a:srgbClr val="63637E"/>
                </a:solidFill>
                <a:latin typeface="Calibri"/>
              </a:rPr>
              <a:t>Precision</a:t>
            </a:r>
          </a:p>
        </p:txBody>
      </p:sp>
      <p:sp>
        <p:nvSpPr>
          <p:cNvPr id="8" name="Rounded Rectangle 7"/>
          <p:cNvSpPr/>
          <p:nvPr/>
        </p:nvSpPr>
        <p:spPr>
          <a:xfrm>
            <a:off x="3520440" y="3611880"/>
            <a:ext cx="1463040" cy="1691640"/>
          </a:xfrm>
          <a:prstGeom prst="roundRect">
            <a:avLst>
              <a:gd name="adj" fmla="val 8000"/>
            </a:avLst>
          </a:prstGeom>
          <a:solidFill>
            <a:srgbClr val="F5F2FD"/>
          </a:solidFill>
          <a:ln w="12700">
            <a:solidFill>
              <a:srgbClr val="D9D3F0"/>
            </a:solidFill>
          </a:ln>
        </p:spPr>
        <p:txBody>
          <a:bodyPr wrap="square" lIns="73152" tIns="73152" rIns="73152" bIns="73152" rtlCol="0" anchor="ctr">
            <a:noAutofit/>
          </a:bodyPr>
          <a:lstStyle/>
          <a:p>
            <a:pPr marL="0" indent="0" algn="ctr">
              <a:spcAft>
                <a:spcPts val="600"/>
              </a:spcAft>
              <a:buNone/>
            </a:pPr>
            <a:r>
              <a:rPr sz="2400" b="1" i="0">
                <a:solidFill>
                  <a:srgbClr val="6D28D9"/>
                </a:solidFill>
                <a:latin typeface="Arial"/>
              </a:rPr>
              <a:t>0.611</a:t>
            </a:r>
          </a:p>
          <a:p>
            <a:pPr marL="0" indent="0" algn="ctr">
              <a:spcAft>
                <a:spcPts val="0"/>
              </a:spcAft>
              <a:buNone/>
            </a:pPr>
            <a:r>
              <a:rPr sz="1200" b="0" i="0">
                <a:solidFill>
                  <a:srgbClr val="63637E"/>
                </a:solidFill>
                <a:latin typeface="Calibri"/>
              </a:rPr>
              <a:t>Recall</a:t>
            </a:r>
          </a:p>
        </p:txBody>
      </p:sp>
      <p:sp>
        <p:nvSpPr>
          <p:cNvPr id="9" name="Rounded Rectangle 8"/>
          <p:cNvSpPr/>
          <p:nvPr/>
        </p:nvSpPr>
        <p:spPr>
          <a:xfrm>
            <a:off x="5166360" y="3611880"/>
            <a:ext cx="1463040" cy="1691640"/>
          </a:xfrm>
          <a:prstGeom prst="roundRect">
            <a:avLst>
              <a:gd name="adj" fmla="val 8000"/>
            </a:avLst>
          </a:prstGeom>
          <a:solidFill>
            <a:srgbClr val="F5F2FD"/>
          </a:solidFill>
          <a:ln w="12700">
            <a:solidFill>
              <a:srgbClr val="D9D3F0"/>
            </a:solidFill>
          </a:ln>
        </p:spPr>
        <p:txBody>
          <a:bodyPr wrap="square" lIns="73152" tIns="73152" rIns="73152" bIns="73152" rtlCol="0" anchor="ctr">
            <a:noAutofit/>
          </a:bodyPr>
          <a:lstStyle/>
          <a:p>
            <a:pPr marL="0" indent="0" algn="ctr">
              <a:spcAft>
                <a:spcPts val="600"/>
              </a:spcAft>
              <a:buNone/>
            </a:pPr>
            <a:r>
              <a:rPr sz="2400" b="1" i="0">
                <a:solidFill>
                  <a:srgbClr val="B45309"/>
                </a:solidFill>
                <a:latin typeface="Arial"/>
              </a:rPr>
              <a:t>10.43 s</a:t>
            </a:r>
          </a:p>
          <a:p>
            <a:pPr marL="0" indent="0" algn="ctr">
              <a:spcAft>
                <a:spcPts val="0"/>
              </a:spcAft>
              <a:buNone/>
            </a:pPr>
            <a:r>
              <a:rPr sz="1200" b="0" i="0">
                <a:solidFill>
                  <a:srgbClr val="63637E"/>
                </a:solidFill>
                <a:latin typeface="Calibri"/>
              </a:rPr>
              <a:t>Average Response Latency</a:t>
            </a:r>
          </a:p>
        </p:txBody>
      </p:sp>
      <p:sp>
        <p:nvSpPr>
          <p:cNvPr id="10" name="Rounded Rectangle 9"/>
          <p:cNvSpPr/>
          <p:nvPr/>
        </p:nvSpPr>
        <p:spPr>
          <a:xfrm>
            <a:off x="6812280" y="3611880"/>
            <a:ext cx="1463040" cy="1691640"/>
          </a:xfrm>
          <a:prstGeom prst="roundRect">
            <a:avLst>
              <a:gd name="adj" fmla="val 8000"/>
            </a:avLst>
          </a:prstGeom>
          <a:solidFill>
            <a:srgbClr val="F5F2FD"/>
          </a:solidFill>
          <a:ln w="12700">
            <a:solidFill>
              <a:srgbClr val="D9D3F0"/>
            </a:solidFill>
          </a:ln>
        </p:spPr>
        <p:txBody>
          <a:bodyPr wrap="square" lIns="73152" tIns="73152" rIns="73152" bIns="73152" rtlCol="0" anchor="ctr">
            <a:noAutofit/>
          </a:bodyPr>
          <a:lstStyle/>
          <a:p>
            <a:pPr marL="0" indent="0" algn="ctr">
              <a:spcAft>
                <a:spcPts val="600"/>
              </a:spcAft>
              <a:buNone/>
            </a:pPr>
            <a:r>
              <a:rPr sz="2400" b="1" i="0">
                <a:solidFill>
                  <a:srgbClr val="6D28D9"/>
                </a:solidFill>
                <a:latin typeface="Arial"/>
              </a:rPr>
              <a:t>15 / 100</a:t>
            </a:r>
          </a:p>
          <a:p>
            <a:pPr marL="0" indent="0" algn="ctr">
              <a:spcAft>
                <a:spcPts val="0"/>
              </a:spcAft>
              <a:buNone/>
            </a:pPr>
            <a:r>
              <a:rPr sz="1200" b="0" i="0">
                <a:solidFill>
                  <a:srgbClr val="63637E"/>
                </a:solidFill>
                <a:latin typeface="Calibri"/>
              </a:rPr>
              <a:t>Partial benchmark run completed</a:t>
            </a:r>
          </a:p>
        </p:txBody>
      </p:sp>
      <p:sp>
        <p:nvSpPr>
          <p:cNvPr id="11" name="TextBox 10"/>
          <p:cNvSpPr txBox="1"/>
          <p:nvPr/>
        </p:nvSpPr>
        <p:spPr>
          <a:xfrm>
            <a:off x="3520440" y="5257800"/>
            <a:ext cx="4754880" cy="457200"/>
          </a:xfrm>
          <a:prstGeom prst="rect">
            <a:avLst/>
          </a:prstGeom>
          <a:noFill/>
        </p:spPr>
        <p:txBody>
          <a:bodyPr wrap="square" lIns="0" tIns="0" rIns="0" bIns="0" anchor="ctr">
            <a:noAutofit/>
          </a:bodyPr>
          <a:lstStyle/>
          <a:p>
            <a:pPr marL="0" indent="0" algn="ctr">
              <a:spcAft>
                <a:spcPts val="400"/>
              </a:spcAft>
              <a:buNone/>
            </a:pPr>
            <a:r>
              <a:rPr sz="1200" b="1" i="1">
                <a:solidFill>
                  <a:srgbClr val="B45309"/>
                </a:solidFill>
                <a:latin typeface="Calibri"/>
              </a:rPr>
              <a:t>Team reproduction / partial run — not official organizer scoring</a:t>
            </a:r>
          </a:p>
        </p:txBody>
      </p:sp>
      <p:sp>
        <p:nvSpPr>
          <p:cNvPr id="12" name="Rounded Rectangle 11"/>
          <p:cNvSpPr/>
          <p:nvPr/>
        </p:nvSpPr>
        <p:spPr>
          <a:xfrm>
            <a:off x="8412480" y="1371600"/>
            <a:ext cx="3227831" cy="4114800"/>
          </a:xfrm>
          <a:prstGeom prst="roundRect">
            <a:avLst>
              <a:gd name="adj" fmla="val 6000"/>
            </a:avLst>
          </a:prstGeom>
          <a:solidFill>
            <a:srgbClr val="F7F7FA"/>
          </a:solidFill>
          <a:ln w="12700">
            <a:solidFill>
              <a:srgbClr val="E0E0E8"/>
            </a:solidFill>
          </a:ln>
        </p:spPr>
        <p:txBody>
          <a:bodyPr wrap="square" lIns="182880" tIns="182880" rIns="182880" bIns="182880" rtlCol="0" anchor="t">
            <a:noAutofit/>
          </a:bodyPr>
          <a:lstStyle/>
          <a:p>
            <a:pPr marL="0" indent="0" algn="l">
              <a:spcAft>
                <a:spcPts val="1000"/>
              </a:spcAft>
              <a:buNone/>
            </a:pPr>
            <a:r>
              <a:rPr sz="1300" b="1" i="0">
                <a:solidFill>
                  <a:srgbClr val="B45309"/>
                </a:solidFill>
                <a:latin typeface="Arial"/>
              </a:rPr>
              <a:t>LIMITATIONS</a:t>
            </a:r>
          </a:p>
          <a:p>
            <a:pPr marL="182880" indent="-182880" algn="l">
              <a:spcAft>
                <a:spcPts val="700"/>
              </a:spcAft>
              <a:buClr>
                <a:srgbClr val="B45309"/>
              </a:buClr>
              <a:buChar char="•"/>
            </a:pPr>
            <a:r>
              <a:rPr sz="1250" b="0" i="0">
                <a:solidFill>
                  <a:srgbClr val="14142B"/>
                </a:solidFill>
                <a:latin typeface="Calibri"/>
              </a:rPr>
              <a:t>Full 100-item run constrained by CPU load in the current environment</a:t>
            </a:r>
          </a:p>
          <a:p>
            <a:pPr marL="182880" indent="-182880" algn="l">
              <a:spcAft>
                <a:spcPts val="700"/>
              </a:spcAft>
              <a:buClr>
                <a:srgbClr val="B45309"/>
              </a:buClr>
              <a:buChar char="•"/>
            </a:pPr>
            <a:r>
              <a:rPr sz="1250" b="0" i="0">
                <a:solidFill>
                  <a:srgbClr val="14142B"/>
                </a:solidFill>
                <a:latin typeface="Calibri"/>
              </a:rPr>
              <a:t>10.43 s average latency shows further responsiveness work is needed</a:t>
            </a:r>
          </a:p>
          <a:p>
            <a:pPr marL="182880" indent="-182880" algn="l">
              <a:spcAft>
                <a:spcPts val="700"/>
              </a:spcAft>
              <a:buClr>
                <a:srgbClr val="B45309"/>
              </a:buClr>
              <a:buChar char="•"/>
            </a:pPr>
            <a:r>
              <a:rPr sz="1250" b="0" i="0">
                <a:solidFill>
                  <a:srgbClr val="14142B"/>
                </a:solidFill>
                <a:latin typeface="Calibri"/>
              </a:rPr>
              <a:t>Explicit application-level stale-call cancellation / rollback is not yet fully implemented</a:t>
            </a:r>
          </a:p>
          <a:p>
            <a:pPr marL="182880" indent="-182880" algn="l">
              <a:spcAft>
                <a:spcPts val="700"/>
              </a:spcAft>
              <a:buClr>
                <a:srgbClr val="B45309"/>
              </a:buClr>
              <a:buChar char="•"/>
            </a:pPr>
            <a:r>
              <a:rPr sz="1250" b="0" i="0">
                <a:solidFill>
                  <a:srgbClr val="14142B"/>
                </a:solidFill>
                <a:latin typeface="Calibri"/>
              </a:rPr>
              <a:t>Benchmark rerun by organizers determines the official score</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548640" y="320040"/>
            <a:ext cx="11091672" cy="777240"/>
          </a:xfrm>
        </p:spPr>
        <p:txBody>
          <a:bodyPr wrap="square" anchor="ctr">
            <a:noAutofit/>
          </a:bodyPr>
          <a:lstStyle/>
          <a:p>
            <a:pPr marL="0" indent="0" algn="l">
              <a:spcAft>
                <a:spcPts val="0"/>
              </a:spcAft>
              <a:buNone/>
            </a:pPr>
            <a:r>
              <a:rPr sz="2800" b="1" i="0">
                <a:solidFill>
                  <a:srgbClr val="704EA6"/>
                </a:solidFill>
                <a:latin typeface="Calibri"/>
              </a:rPr>
              <a:t>WHAT’S NEXT</a:t>
            </a:r>
            <a:endParaRPr lang="en-US" sz="4400" b="1" dirty="0">
              <a:solidFill>
                <a:srgbClr val="704EA6"/>
              </a:solidFill>
            </a:endParaRPr>
          </a:p>
        </p:txBody>
      </p:sp>
      <p:sp>
        <p:nvSpPr>
          <p:cNvPr id="3" name="Rounded Rectangle 2"/>
          <p:cNvSpPr/>
          <p:nvPr/>
        </p:nvSpPr>
        <p:spPr>
          <a:xfrm>
            <a:off x="548640" y="1417320"/>
            <a:ext cx="3383280" cy="370332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200"/>
              </a:spcAft>
              <a:buNone/>
            </a:pPr>
            <a:r>
              <a:rPr sz="3200" b="1" i="0">
                <a:solidFill>
                  <a:srgbClr val="6D28D9"/>
                </a:solidFill>
                <a:latin typeface="Arial"/>
              </a:rPr>
              <a:t>01</a:t>
            </a:r>
          </a:p>
          <a:p>
            <a:pPr marL="0" indent="0" algn="l">
              <a:spcAft>
                <a:spcPts val="1200"/>
              </a:spcAft>
              <a:buNone/>
            </a:pPr>
            <a:r>
              <a:rPr sz="1700" b="1" i="0">
                <a:solidFill>
                  <a:srgbClr val="14142B"/>
                </a:solidFill>
                <a:latin typeface="Arial"/>
              </a:rPr>
              <a:t>INTERRUPTION CONTROL</a:t>
            </a:r>
          </a:p>
          <a:p>
            <a:pPr marL="182880" indent="-182880" algn="l">
              <a:spcAft>
                <a:spcPts val="1000"/>
              </a:spcAft>
              <a:buClr>
                <a:srgbClr val="6D28D9"/>
              </a:buClr>
              <a:buChar char="•"/>
            </a:pPr>
            <a:r>
              <a:rPr sz="1600" b="0" i="0">
                <a:solidFill>
                  <a:srgbClr val="63637E"/>
                </a:solidFill>
                <a:latin typeface="Calibri"/>
              </a:rPr>
              <a:t>Explicit intent state</a:t>
            </a:r>
          </a:p>
          <a:p>
            <a:pPr marL="182880" indent="-182880" algn="l">
              <a:spcAft>
                <a:spcPts val="1000"/>
              </a:spcAft>
              <a:buClr>
                <a:srgbClr val="6D28D9"/>
              </a:buClr>
              <a:buChar char="•"/>
            </a:pPr>
            <a:r>
              <a:rPr sz="1600" b="0" i="0">
                <a:solidFill>
                  <a:srgbClr val="63637E"/>
                </a:solidFill>
                <a:latin typeface="Calibri"/>
              </a:rPr>
              <a:t>Stale-intent detection</a:t>
            </a:r>
          </a:p>
          <a:p>
            <a:pPr marL="182880" indent="-182880" algn="l">
              <a:spcAft>
                <a:spcPts val="1000"/>
              </a:spcAft>
              <a:buClr>
                <a:srgbClr val="6D28D9"/>
              </a:buClr>
              <a:buChar char="•"/>
            </a:pPr>
            <a:r>
              <a:rPr sz="1600" b="0" i="0">
                <a:solidFill>
                  <a:srgbClr val="63637E"/>
                </a:solidFill>
                <a:latin typeface="Calibri"/>
              </a:rPr>
              <a:t>Cancellation of superseded work</a:t>
            </a:r>
          </a:p>
          <a:p>
            <a:pPr marL="182880" indent="-182880" algn="l">
              <a:spcAft>
                <a:spcPts val="1000"/>
              </a:spcAft>
              <a:buClr>
                <a:srgbClr val="6D28D9"/>
              </a:buClr>
              <a:buChar char="•"/>
            </a:pPr>
            <a:r>
              <a:rPr sz="1600" b="0" i="0">
                <a:solidFill>
                  <a:srgbClr val="63637E"/>
                </a:solidFill>
                <a:latin typeface="Calibri"/>
              </a:rPr>
              <a:t>State snapshots</a:t>
            </a:r>
          </a:p>
          <a:p>
            <a:pPr marL="182880" indent="-182880" algn="l">
              <a:spcAft>
                <a:spcPts val="1000"/>
              </a:spcAft>
              <a:buClr>
                <a:srgbClr val="6D28D9"/>
              </a:buClr>
              <a:buChar char="•"/>
            </a:pPr>
            <a:r>
              <a:rPr sz="1600" b="0" i="0">
                <a:solidFill>
                  <a:srgbClr val="63637E"/>
                </a:solidFill>
                <a:latin typeface="Calibri"/>
              </a:rPr>
              <a:t>Re-planning</a:t>
            </a:r>
          </a:p>
        </p:txBody>
      </p:sp>
      <p:cxnSp>
        <p:nvCxnSpPr>
          <p:cNvPr id="4" name="Connector 3"/>
          <p:cNvCxnSpPr/>
          <p:nvPr/>
        </p:nvCxnSpPr>
        <p:spPr>
          <a:xfrm>
            <a:off x="4005072" y="3264408"/>
            <a:ext cx="324611" cy="0"/>
          </a:xfrm>
          <a:prstGeom prst="line">
            <a:avLst/>
          </a:prstGeom>
          <a:ln w="31750">
            <a:solidFill>
              <a:srgbClr val="6D28D9"/>
            </a:solidFill>
            <a:tailEnd type="triangle"/>
          </a:ln>
        </p:spPr>
      </p:cxnSp>
      <p:sp>
        <p:nvSpPr>
          <p:cNvPr id="5" name="Rounded Rectangle 4"/>
          <p:cNvSpPr/>
          <p:nvPr/>
        </p:nvSpPr>
        <p:spPr>
          <a:xfrm>
            <a:off x="4402836" y="1417320"/>
            <a:ext cx="3383280" cy="370332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200"/>
              </a:spcAft>
              <a:buNone/>
            </a:pPr>
            <a:r>
              <a:rPr sz="3200" b="1" i="0">
                <a:solidFill>
                  <a:srgbClr val="6D28D9"/>
                </a:solidFill>
                <a:latin typeface="Arial"/>
              </a:rPr>
              <a:t>02</a:t>
            </a:r>
          </a:p>
          <a:p>
            <a:pPr marL="0" indent="0" algn="l">
              <a:spcAft>
                <a:spcPts val="1200"/>
              </a:spcAft>
              <a:buNone/>
            </a:pPr>
            <a:r>
              <a:rPr sz="1700" b="1" i="0">
                <a:solidFill>
                  <a:srgbClr val="14142B"/>
                </a:solidFill>
                <a:latin typeface="Arial"/>
              </a:rPr>
              <a:t>RESPONSIVENESS</a:t>
            </a:r>
          </a:p>
          <a:p>
            <a:pPr marL="182880" indent="-182880" algn="l">
              <a:spcAft>
                <a:spcPts val="1000"/>
              </a:spcAft>
              <a:buClr>
                <a:srgbClr val="6D28D9"/>
              </a:buClr>
              <a:buChar char="•"/>
            </a:pPr>
            <a:r>
              <a:rPr sz="1600" b="0" i="0">
                <a:solidFill>
                  <a:srgbClr val="63637E"/>
                </a:solidFill>
                <a:latin typeface="Calibri"/>
              </a:rPr>
              <a:t>Isolate tool execution</a:t>
            </a:r>
          </a:p>
          <a:p>
            <a:pPr marL="182880" indent="-182880" algn="l">
              <a:spcAft>
                <a:spcPts val="1000"/>
              </a:spcAft>
              <a:buClr>
                <a:srgbClr val="6D28D9"/>
              </a:buClr>
              <a:buChar char="•"/>
            </a:pPr>
            <a:r>
              <a:rPr sz="1600" b="0" i="0">
                <a:solidFill>
                  <a:srgbClr val="63637E"/>
                </a:solidFill>
                <a:latin typeface="Calibri"/>
              </a:rPr>
              <a:t>Eliminate event-loop blocking</a:t>
            </a:r>
          </a:p>
          <a:p>
            <a:pPr marL="182880" indent="-182880" algn="l">
              <a:spcAft>
                <a:spcPts val="1000"/>
              </a:spcAft>
              <a:buClr>
                <a:srgbClr val="6D28D9"/>
              </a:buClr>
              <a:buChar char="•"/>
            </a:pPr>
            <a:r>
              <a:rPr sz="1600" b="0" i="0">
                <a:solidFill>
                  <a:srgbClr val="63637E"/>
                </a:solidFill>
                <a:latin typeface="Calibri"/>
              </a:rPr>
              <a:t>Optimize schema initialization</a:t>
            </a:r>
          </a:p>
          <a:p>
            <a:pPr marL="182880" indent="-182880" algn="l">
              <a:spcAft>
                <a:spcPts val="1000"/>
              </a:spcAft>
              <a:buClr>
                <a:srgbClr val="6D28D9"/>
              </a:buClr>
              <a:buChar char="•"/>
            </a:pPr>
            <a:r>
              <a:rPr sz="1600" b="0" i="0">
                <a:solidFill>
                  <a:srgbClr val="63637E"/>
                </a:solidFill>
                <a:latin typeface="Calibri"/>
              </a:rPr>
              <a:t>Improve first-response latency</a:t>
            </a:r>
          </a:p>
          <a:p>
            <a:pPr marL="182880" indent="-182880" algn="l">
              <a:spcAft>
                <a:spcPts val="1000"/>
              </a:spcAft>
              <a:buClr>
                <a:srgbClr val="6D28D9"/>
              </a:buClr>
              <a:buChar char="•"/>
            </a:pPr>
            <a:r>
              <a:rPr sz="1600" b="0" i="0">
                <a:solidFill>
                  <a:srgbClr val="63637E"/>
                </a:solidFill>
                <a:latin typeface="Calibri"/>
              </a:rPr>
              <a:t>Reduce CPU contention</a:t>
            </a:r>
          </a:p>
        </p:txBody>
      </p:sp>
      <p:cxnSp>
        <p:nvCxnSpPr>
          <p:cNvPr id="6" name="Connector 5"/>
          <p:cNvCxnSpPr/>
          <p:nvPr/>
        </p:nvCxnSpPr>
        <p:spPr>
          <a:xfrm>
            <a:off x="7859268" y="3264408"/>
            <a:ext cx="324612" cy="0"/>
          </a:xfrm>
          <a:prstGeom prst="line">
            <a:avLst/>
          </a:prstGeom>
          <a:ln w="31750">
            <a:solidFill>
              <a:srgbClr val="6D28D9"/>
            </a:solidFill>
            <a:tailEnd type="triangle"/>
          </a:ln>
        </p:spPr>
      </p:cxnSp>
      <p:sp>
        <p:nvSpPr>
          <p:cNvPr id="7" name="Rounded Rectangle 6"/>
          <p:cNvSpPr/>
          <p:nvPr/>
        </p:nvSpPr>
        <p:spPr>
          <a:xfrm>
            <a:off x="8257031" y="1417320"/>
            <a:ext cx="3383280" cy="370332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200"/>
              </a:spcAft>
              <a:buNone/>
            </a:pPr>
            <a:r>
              <a:rPr sz="3200" b="1" i="0">
                <a:solidFill>
                  <a:srgbClr val="6D28D9"/>
                </a:solidFill>
                <a:latin typeface="Arial"/>
              </a:rPr>
              <a:t>03</a:t>
            </a:r>
          </a:p>
          <a:p>
            <a:pPr marL="0" indent="0" algn="l">
              <a:spcAft>
                <a:spcPts val="1200"/>
              </a:spcAft>
              <a:buNone/>
            </a:pPr>
            <a:r>
              <a:rPr sz="1700" b="1" i="0">
                <a:solidFill>
                  <a:srgbClr val="14142B"/>
                </a:solidFill>
                <a:latin typeface="Arial"/>
              </a:rPr>
              <a:t>PRODUCTION READINESS</a:t>
            </a:r>
          </a:p>
          <a:p>
            <a:pPr marL="182880" indent="-182880" algn="l">
              <a:spcAft>
                <a:spcPts val="1000"/>
              </a:spcAft>
              <a:buClr>
                <a:srgbClr val="6D28D9"/>
              </a:buClr>
              <a:buChar char="•"/>
            </a:pPr>
            <a:r>
              <a:rPr sz="1600" b="0" i="0">
                <a:solidFill>
                  <a:srgbClr val="63637E"/>
                </a:solidFill>
                <a:latin typeface="Calibri"/>
              </a:rPr>
              <a:t>Real-world APIs</a:t>
            </a:r>
          </a:p>
          <a:p>
            <a:pPr marL="182880" indent="-182880" algn="l">
              <a:spcAft>
                <a:spcPts val="1000"/>
              </a:spcAft>
              <a:buClr>
                <a:srgbClr val="6D28D9"/>
              </a:buClr>
              <a:buChar char="•"/>
            </a:pPr>
            <a:r>
              <a:rPr sz="1600" b="0" i="0">
                <a:solidFill>
                  <a:srgbClr val="63637E"/>
                </a:solidFill>
                <a:latin typeface="Calibri"/>
              </a:rPr>
              <a:t>Multimodal grounding</a:t>
            </a:r>
          </a:p>
          <a:p>
            <a:pPr marL="182880" indent="-182880" algn="l">
              <a:spcAft>
                <a:spcPts val="1000"/>
              </a:spcAft>
              <a:buClr>
                <a:srgbClr val="6D28D9"/>
              </a:buClr>
              <a:buChar char="•"/>
            </a:pPr>
            <a:r>
              <a:rPr sz="1600" b="0" i="0">
                <a:solidFill>
                  <a:srgbClr val="63637E"/>
                </a:solidFill>
                <a:latin typeface="Calibri"/>
              </a:rPr>
              <a:t>Persistent state</a:t>
            </a:r>
          </a:p>
          <a:p>
            <a:pPr marL="182880" indent="-182880" algn="l">
              <a:spcAft>
                <a:spcPts val="1000"/>
              </a:spcAft>
              <a:buClr>
                <a:srgbClr val="6D28D9"/>
              </a:buClr>
              <a:buChar char="•"/>
            </a:pPr>
            <a:r>
              <a:rPr sz="1600" b="0" i="0">
                <a:solidFill>
                  <a:srgbClr val="63637E"/>
                </a:solidFill>
                <a:latin typeface="Calibri"/>
              </a:rPr>
              <a:t>Long-running asynchronous jobs</a:t>
            </a:r>
          </a:p>
          <a:p>
            <a:pPr marL="182880" indent="-182880" algn="l">
              <a:spcAft>
                <a:spcPts val="1000"/>
              </a:spcAft>
              <a:buClr>
                <a:srgbClr val="6D28D9"/>
              </a:buClr>
              <a:buChar char="•"/>
            </a:pPr>
            <a:r>
              <a:rPr sz="1600" b="0" i="0">
                <a:solidFill>
                  <a:srgbClr val="63637E"/>
                </a:solidFill>
                <a:latin typeface="Calibri"/>
              </a:rPr>
              <a:t>Robust failure recovery</a:t>
            </a:r>
          </a:p>
        </p:txBody>
      </p:sp>
      <p:sp>
        <p:nvSpPr>
          <p:cNvPr id="8" name="Rounded Rectangle 7"/>
          <p:cNvSpPr/>
          <p:nvPr/>
        </p:nvSpPr>
        <p:spPr>
          <a:xfrm>
            <a:off x="548640" y="5440680"/>
            <a:ext cx="11091672" cy="822960"/>
          </a:xfrm>
          <a:prstGeom prst="roundRect">
            <a:avLst>
              <a:gd name="adj" fmla="val 12000"/>
            </a:avLst>
          </a:prstGeom>
          <a:solidFill>
            <a:srgbClr val="6D28D9"/>
          </a:solidFill>
          <a:ln>
            <a:noFill/>
          </a:ln>
        </p:spPr>
        <p:txBody>
          <a:bodyPr wrap="square" lIns="274320" rIns="274320" rtlCol="0" anchor="ctr">
            <a:noAutofit/>
          </a:bodyPr>
          <a:lstStyle/>
          <a:p>
            <a:pPr marL="0" indent="0" algn="ctr">
              <a:spcAft>
                <a:spcPts val="400"/>
              </a:spcAft>
              <a:buNone/>
            </a:pPr>
            <a:r>
              <a:rPr sz="2000" b="1" i="0">
                <a:solidFill>
                  <a:srgbClr val="FFFFFF"/>
                </a:solidFill>
                <a:latin typeface="Arial"/>
              </a:rPr>
              <a:t>From benchmark-ready prototype → production-grade conversational agent</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548640" y="320040"/>
            <a:ext cx="11091672" cy="777240"/>
          </a:xfrm>
        </p:spPr>
        <p:txBody>
          <a:bodyPr wrap="square" anchor="ctr">
            <a:noAutofit/>
          </a:bodyPr>
          <a:lstStyle/>
          <a:p>
            <a:pPr marL="0" indent="0" algn="l">
              <a:spcAft>
                <a:spcPts val="0"/>
              </a:spcAft>
              <a:buNone/>
            </a:pPr>
            <a:r>
              <a:rPr sz="2800" b="1" i="0">
                <a:solidFill>
                  <a:srgbClr val="704EA6"/>
                </a:solidFill>
                <a:latin typeface="Calibri"/>
              </a:rPr>
              <a:t>WHY THIS APPROACH IS DIFFERENT</a:t>
            </a:r>
            <a:endParaRPr lang="en-US" sz="4400" b="1" dirty="0">
              <a:solidFill>
                <a:srgbClr val="704EA6"/>
              </a:solidFill>
            </a:endParaRPr>
          </a:p>
        </p:txBody>
      </p:sp>
      <p:sp>
        <p:nvSpPr>
          <p:cNvPr id="3" name="Rounded Rectangle 2"/>
          <p:cNvSpPr/>
          <p:nvPr/>
        </p:nvSpPr>
        <p:spPr>
          <a:xfrm>
            <a:off x="548640" y="1371600"/>
            <a:ext cx="5440680" cy="182880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200"/>
              </a:spcAft>
              <a:buNone/>
            </a:pPr>
            <a:r>
              <a:rPr sz="1200" b="1" i="0">
                <a:solidFill>
                  <a:srgbClr val="6D28D9"/>
                </a:solidFill>
                <a:latin typeface="Arial"/>
              </a:rPr>
              <a:t>01</a:t>
            </a:r>
          </a:p>
          <a:p>
            <a:pPr marL="0" indent="0" algn="l">
              <a:spcAft>
                <a:spcPts val="800"/>
              </a:spcAft>
              <a:buNone/>
            </a:pPr>
            <a:r>
              <a:rPr sz="1900" b="1" i="0">
                <a:solidFill>
                  <a:srgbClr val="14142B"/>
                </a:solidFill>
                <a:latin typeface="Arial"/>
              </a:rPr>
              <a:t>NATIVE REALTIME</a:t>
            </a:r>
          </a:p>
          <a:p>
            <a:pPr marL="0" indent="0" algn="l">
              <a:spcAft>
                <a:spcPts val="400"/>
              </a:spcAft>
              <a:buNone/>
            </a:pPr>
            <a:r>
              <a:rPr sz="1600" b="0" i="0">
                <a:solidFill>
                  <a:srgbClr val="63637E"/>
                </a:solidFill>
                <a:latin typeface="Calibri"/>
              </a:rPr>
              <a:t>No separate ASR → LLM → TTS cascade.</a:t>
            </a:r>
          </a:p>
        </p:txBody>
      </p:sp>
      <p:sp>
        <p:nvSpPr>
          <p:cNvPr id="4" name="Rounded Rectangle 3"/>
          <p:cNvSpPr/>
          <p:nvPr/>
        </p:nvSpPr>
        <p:spPr>
          <a:xfrm>
            <a:off x="6199632" y="1371600"/>
            <a:ext cx="5440680" cy="182880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200"/>
              </a:spcAft>
              <a:buNone/>
            </a:pPr>
            <a:r>
              <a:rPr sz="1200" b="1" i="0">
                <a:solidFill>
                  <a:srgbClr val="6D28D9"/>
                </a:solidFill>
                <a:latin typeface="Arial"/>
              </a:rPr>
              <a:t>02</a:t>
            </a:r>
          </a:p>
          <a:p>
            <a:pPr marL="0" indent="0" algn="l">
              <a:spcAft>
                <a:spcPts val="800"/>
              </a:spcAft>
              <a:buNone/>
            </a:pPr>
            <a:r>
              <a:rPr sz="1900" b="1" i="0">
                <a:solidFill>
                  <a:srgbClr val="14142B"/>
                </a:solidFill>
                <a:latin typeface="Arial"/>
              </a:rPr>
              <a:t>REAL TOOL INTERACTION</a:t>
            </a:r>
          </a:p>
          <a:p>
            <a:pPr marL="0" indent="0" algn="l">
              <a:spcAft>
                <a:spcPts val="400"/>
              </a:spcAft>
              <a:buNone/>
            </a:pPr>
            <a:r>
              <a:rPr sz="1600" b="0" i="0">
                <a:solidFill>
                  <a:srgbClr val="63637E"/>
                </a:solidFill>
                <a:latin typeface="Calibri"/>
              </a:rPr>
              <a:t>The agent does not stop at generating text — it interacts with tools.</a:t>
            </a:r>
          </a:p>
        </p:txBody>
      </p:sp>
      <p:sp>
        <p:nvSpPr>
          <p:cNvPr id="5" name="Rounded Rectangle 4"/>
          <p:cNvSpPr/>
          <p:nvPr/>
        </p:nvSpPr>
        <p:spPr>
          <a:xfrm>
            <a:off x="548640" y="3429000"/>
            <a:ext cx="5440680" cy="182880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200"/>
              </a:spcAft>
              <a:buNone/>
            </a:pPr>
            <a:r>
              <a:rPr sz="1200" b="1" i="0">
                <a:solidFill>
                  <a:srgbClr val="6D28D9"/>
                </a:solidFill>
                <a:latin typeface="Arial"/>
              </a:rPr>
              <a:t>03</a:t>
            </a:r>
          </a:p>
          <a:p>
            <a:pPr marL="0" indent="0" algn="l">
              <a:spcAft>
                <a:spcPts val="800"/>
              </a:spcAft>
              <a:buNone/>
            </a:pPr>
            <a:r>
              <a:rPr sz="1900" b="1" i="0">
                <a:solidFill>
                  <a:srgbClr val="14142B"/>
                </a:solidFill>
                <a:latin typeface="Arial"/>
              </a:rPr>
              <a:t>DISFLUENCY-AWARE EVALUATION</a:t>
            </a:r>
          </a:p>
          <a:p>
            <a:pPr marL="0" indent="0" algn="l">
              <a:spcAft>
                <a:spcPts val="400"/>
              </a:spcAft>
              <a:buNone/>
            </a:pPr>
            <a:r>
              <a:rPr sz="1500" b="0" i="0">
                <a:solidFill>
                  <a:srgbClr val="63637E"/>
                </a:solidFill>
                <a:latin typeface="Calibri"/>
              </a:rPr>
              <a:t>The benchmark contains:</a:t>
            </a:r>
          </a:p>
          <a:p>
            <a:pPr marL="0" indent="0" algn="l">
              <a:spcAft>
                <a:spcPts val="400"/>
              </a:spcAft>
              <a:buNone/>
            </a:pPr>
            <a:r>
              <a:rPr sz="1500" b="1" i="0">
                <a:solidFill>
                  <a:srgbClr val="6D28D9"/>
                </a:solidFill>
                <a:latin typeface="Calibri"/>
              </a:rPr>
              <a:t>False starts · Self-corrections · Disfluencies · Interruptions</a:t>
            </a:r>
          </a:p>
        </p:txBody>
      </p:sp>
      <p:sp>
        <p:nvSpPr>
          <p:cNvPr id="6" name="Rounded Rectangle 5"/>
          <p:cNvSpPr/>
          <p:nvPr/>
        </p:nvSpPr>
        <p:spPr>
          <a:xfrm>
            <a:off x="6199632" y="3429000"/>
            <a:ext cx="5440680" cy="1828800"/>
          </a:xfrm>
          <a:prstGeom prst="roundRect">
            <a:avLst>
              <a:gd name="adj" fmla="val 6000"/>
            </a:avLst>
          </a:prstGeom>
          <a:solidFill>
            <a:srgbClr val="F5F2FD"/>
          </a:solidFill>
          <a:ln w="12700">
            <a:solidFill>
              <a:srgbClr val="D9D3F0"/>
            </a:solidFill>
          </a:ln>
        </p:spPr>
        <p:txBody>
          <a:bodyPr wrap="square" lIns="201168" tIns="182880" rIns="201168" bIns="182880" rtlCol="0" anchor="t">
            <a:noAutofit/>
          </a:bodyPr>
          <a:lstStyle/>
          <a:p>
            <a:pPr marL="0" indent="0" algn="l">
              <a:spcAft>
                <a:spcPts val="200"/>
              </a:spcAft>
              <a:buNone/>
            </a:pPr>
            <a:r>
              <a:rPr sz="1200" b="1" i="0">
                <a:solidFill>
                  <a:srgbClr val="6D28D9"/>
                </a:solidFill>
                <a:latin typeface="Arial"/>
              </a:rPr>
              <a:t>04</a:t>
            </a:r>
          </a:p>
          <a:p>
            <a:pPr marL="0" indent="0" algn="l">
              <a:spcAft>
                <a:spcPts val="800"/>
              </a:spcAft>
              <a:buNone/>
            </a:pPr>
            <a:r>
              <a:rPr sz="1900" b="1" i="0">
                <a:solidFill>
                  <a:srgbClr val="14142B"/>
                </a:solidFill>
                <a:latin typeface="Arial"/>
              </a:rPr>
              <a:t>MEASURED, NOT ASSUMED</a:t>
            </a:r>
          </a:p>
          <a:p>
            <a:pPr marL="0" indent="0" algn="l">
              <a:spcAft>
                <a:spcPts val="400"/>
              </a:spcAft>
              <a:buNone/>
            </a:pPr>
            <a:r>
              <a:rPr sz="1500" b="0" i="0">
                <a:solidFill>
                  <a:srgbClr val="63637E"/>
                </a:solidFill>
                <a:latin typeface="Calibri"/>
              </a:rPr>
              <a:t>We instrument:</a:t>
            </a:r>
          </a:p>
          <a:p>
            <a:pPr marL="0" indent="0" algn="l">
              <a:spcAft>
                <a:spcPts val="400"/>
              </a:spcAft>
              <a:buNone/>
            </a:pPr>
            <a:r>
              <a:rPr sz="1500" b="1" i="0">
                <a:solidFill>
                  <a:srgbClr val="6D28D9"/>
                </a:solidFill>
                <a:latin typeface="Calibri"/>
              </a:rPr>
              <a:t>F1 · Precision · Recall · Strict Pass · Latency</a:t>
            </a:r>
          </a:p>
        </p:txBody>
      </p:sp>
      <p:sp>
        <p:nvSpPr>
          <p:cNvPr id="7" name="Rounded Rectangle 6"/>
          <p:cNvSpPr/>
          <p:nvPr/>
        </p:nvSpPr>
        <p:spPr>
          <a:xfrm>
            <a:off x="604299" y="5394960"/>
            <a:ext cx="11091672" cy="822960"/>
          </a:xfrm>
          <a:prstGeom prst="roundRect">
            <a:avLst>
              <a:gd name="adj" fmla="val 12000"/>
            </a:avLst>
          </a:prstGeom>
          <a:solidFill>
            <a:srgbClr val="6D28D9"/>
          </a:solidFill>
          <a:ln>
            <a:noFill/>
          </a:ln>
        </p:spPr>
        <p:txBody>
          <a:bodyPr wrap="square" lIns="274320" rIns="274320" rtlCol="0" anchor="ctr">
            <a:noAutofit/>
          </a:bodyPr>
          <a:lstStyle/>
          <a:p>
            <a:pPr marL="0" indent="0" algn="ctr">
              <a:spcAft>
                <a:spcPts val="400"/>
              </a:spcAft>
              <a:buNone/>
            </a:pPr>
            <a:r>
              <a:rPr sz="2000" b="1" i="0">
                <a:solidFill>
                  <a:srgbClr val="FFFFFF"/>
                </a:solidFill>
                <a:latin typeface="Arial"/>
              </a:rPr>
              <a:t>The system is evaluated as an interactive agent, not just a chatbot.</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a:xfrm>
            <a:off x="548640" y="320040"/>
            <a:ext cx="11091672" cy="777240"/>
          </a:xfrm>
        </p:spPr>
        <p:txBody>
          <a:bodyPr wrap="square" anchor="ctr">
            <a:noAutofit/>
          </a:bodyPr>
          <a:lstStyle/>
          <a:p>
            <a:pPr marL="0" indent="0" algn="l">
              <a:spcAft>
                <a:spcPts val="0"/>
              </a:spcAft>
              <a:buNone/>
            </a:pPr>
            <a:r>
              <a:rPr sz="2800" b="1" i="0">
                <a:solidFill>
                  <a:srgbClr val="704EA6"/>
                </a:solidFill>
                <a:latin typeface="Calibri"/>
              </a:rPr>
              <a:t>CHECKLIST — UPDATED ON PUBLIC GITHUB</a:t>
            </a:r>
          </a:p>
        </p:txBody>
      </p:sp>
      <p:sp>
        <p:nvSpPr>
          <p:cNvPr id="3" name="Oval 2"/>
          <p:cNvSpPr/>
          <p:nvPr/>
        </p:nvSpPr>
        <p:spPr>
          <a:xfrm>
            <a:off x="685800" y="1517904"/>
            <a:ext cx="402336" cy="402336"/>
          </a:xfrm>
          <a:prstGeom prst="ellipse">
            <a:avLst/>
          </a:prstGeom>
          <a:solidFill>
            <a:srgbClr val="6D28D9"/>
          </a:solidFill>
          <a:ln>
            <a:noFill/>
          </a:ln>
        </p:spPr>
        <p:txBody>
          <a:bodyPr wrap="square" lIns="0" tIns="0" rIns="0" bIns="0" rtlCol="0" anchor="ctr">
            <a:noAutofit/>
          </a:bodyPr>
          <a:lstStyle/>
          <a:p>
            <a:pPr marL="0" indent="0" algn="ctr">
              <a:spcAft>
                <a:spcPts val="0"/>
              </a:spcAft>
              <a:buNone/>
            </a:pPr>
            <a:r>
              <a:rPr sz="1600" b="1" i="0">
                <a:solidFill>
                  <a:srgbClr val="FFFFFF"/>
                </a:solidFill>
                <a:latin typeface="Segoe UI Symbol"/>
              </a:rPr>
              <a:t>✓</a:t>
            </a:r>
          </a:p>
        </p:txBody>
      </p:sp>
      <p:sp>
        <p:nvSpPr>
          <p:cNvPr id="4" name="TextBox 3"/>
          <p:cNvSpPr txBox="1"/>
          <p:nvPr/>
        </p:nvSpPr>
        <p:spPr>
          <a:xfrm>
            <a:off x="1252728" y="1463040"/>
            <a:ext cx="4572000" cy="512064"/>
          </a:xfrm>
          <a:prstGeom prst="rect">
            <a:avLst/>
          </a:prstGeom>
          <a:noFill/>
        </p:spPr>
        <p:txBody>
          <a:bodyPr wrap="square" lIns="0" tIns="0" rIns="0" bIns="0" anchor="ctr">
            <a:noAutofit/>
          </a:bodyPr>
          <a:lstStyle/>
          <a:p>
            <a:pPr marL="0" indent="0" algn="l">
              <a:spcAft>
                <a:spcPts val="400"/>
              </a:spcAft>
              <a:buNone/>
            </a:pPr>
            <a:r>
              <a:rPr sz="1800" b="0" i="0">
                <a:solidFill>
                  <a:srgbClr val="14142B"/>
                </a:solidFill>
                <a:latin typeface="Calibri"/>
              </a:rPr>
              <a:t>Working realtime voice-agent prototype</a:t>
            </a:r>
          </a:p>
        </p:txBody>
      </p:sp>
      <p:sp>
        <p:nvSpPr>
          <p:cNvPr id="5" name="Oval 4"/>
          <p:cNvSpPr/>
          <p:nvPr/>
        </p:nvSpPr>
        <p:spPr>
          <a:xfrm>
            <a:off x="685800" y="2157984"/>
            <a:ext cx="402336" cy="402336"/>
          </a:xfrm>
          <a:prstGeom prst="ellipse">
            <a:avLst/>
          </a:prstGeom>
          <a:solidFill>
            <a:srgbClr val="6D28D9"/>
          </a:solidFill>
          <a:ln>
            <a:noFill/>
          </a:ln>
        </p:spPr>
        <p:txBody>
          <a:bodyPr wrap="square" lIns="0" tIns="0" rIns="0" bIns="0" rtlCol="0" anchor="ctr">
            <a:noAutofit/>
          </a:bodyPr>
          <a:lstStyle/>
          <a:p>
            <a:pPr marL="0" indent="0" algn="ctr">
              <a:spcAft>
                <a:spcPts val="0"/>
              </a:spcAft>
              <a:buNone/>
            </a:pPr>
            <a:r>
              <a:rPr sz="1600" b="1" i="0">
                <a:solidFill>
                  <a:srgbClr val="FFFFFF"/>
                </a:solidFill>
                <a:latin typeface="Segoe UI Symbol"/>
              </a:rPr>
              <a:t>✓</a:t>
            </a:r>
          </a:p>
        </p:txBody>
      </p:sp>
      <p:sp>
        <p:nvSpPr>
          <p:cNvPr id="6" name="TextBox 5"/>
          <p:cNvSpPr txBox="1"/>
          <p:nvPr/>
        </p:nvSpPr>
        <p:spPr>
          <a:xfrm>
            <a:off x="1252728" y="2103120"/>
            <a:ext cx="4572000" cy="512064"/>
          </a:xfrm>
          <a:prstGeom prst="rect">
            <a:avLst/>
          </a:prstGeom>
          <a:noFill/>
        </p:spPr>
        <p:txBody>
          <a:bodyPr wrap="square" lIns="0" tIns="0" rIns="0" bIns="0" anchor="ctr">
            <a:noAutofit/>
          </a:bodyPr>
          <a:lstStyle/>
          <a:p>
            <a:pPr marL="0" indent="0" algn="l">
              <a:spcAft>
                <a:spcPts val="400"/>
              </a:spcAft>
              <a:buNone/>
            </a:pPr>
            <a:r>
              <a:rPr sz="1800" b="0" i="0">
                <a:solidFill>
                  <a:srgbClr val="14142B"/>
                </a:solidFill>
                <a:latin typeface="Calibri"/>
              </a:rPr>
              <a:t>Native Gemini realtime integration</a:t>
            </a:r>
          </a:p>
        </p:txBody>
      </p:sp>
      <p:sp>
        <p:nvSpPr>
          <p:cNvPr id="7" name="Oval 6"/>
          <p:cNvSpPr/>
          <p:nvPr/>
        </p:nvSpPr>
        <p:spPr>
          <a:xfrm>
            <a:off x="685800" y="2798064"/>
            <a:ext cx="402336" cy="402336"/>
          </a:xfrm>
          <a:prstGeom prst="ellipse">
            <a:avLst/>
          </a:prstGeom>
          <a:solidFill>
            <a:srgbClr val="6D28D9"/>
          </a:solidFill>
          <a:ln>
            <a:noFill/>
          </a:ln>
        </p:spPr>
        <p:txBody>
          <a:bodyPr wrap="square" lIns="0" tIns="0" rIns="0" bIns="0" rtlCol="0" anchor="ctr">
            <a:noAutofit/>
          </a:bodyPr>
          <a:lstStyle/>
          <a:p>
            <a:pPr marL="0" indent="0" algn="ctr">
              <a:spcAft>
                <a:spcPts val="0"/>
              </a:spcAft>
              <a:buNone/>
            </a:pPr>
            <a:r>
              <a:rPr sz="1600" b="1" i="0">
                <a:solidFill>
                  <a:srgbClr val="FFFFFF"/>
                </a:solidFill>
                <a:latin typeface="Segoe UI Symbol"/>
              </a:rPr>
              <a:t>✓</a:t>
            </a:r>
          </a:p>
        </p:txBody>
      </p:sp>
      <p:sp>
        <p:nvSpPr>
          <p:cNvPr id="8" name="TextBox 7"/>
          <p:cNvSpPr txBox="1"/>
          <p:nvPr/>
        </p:nvSpPr>
        <p:spPr>
          <a:xfrm>
            <a:off x="1252728" y="2743200"/>
            <a:ext cx="4572000" cy="512064"/>
          </a:xfrm>
          <a:prstGeom prst="rect">
            <a:avLst/>
          </a:prstGeom>
          <a:noFill/>
        </p:spPr>
        <p:txBody>
          <a:bodyPr wrap="square" lIns="0" tIns="0" rIns="0" bIns="0" anchor="ctr">
            <a:noAutofit/>
          </a:bodyPr>
          <a:lstStyle/>
          <a:p>
            <a:pPr marL="0" indent="0" algn="l">
              <a:spcAft>
                <a:spcPts val="400"/>
              </a:spcAft>
              <a:buNone/>
            </a:pPr>
            <a:r>
              <a:rPr sz="1800" b="0" i="0">
                <a:solidFill>
                  <a:srgbClr val="14142B"/>
                </a:solidFill>
                <a:latin typeface="Calibri"/>
              </a:rPr>
              <a:t>LiveKit AgentSession integration</a:t>
            </a:r>
          </a:p>
        </p:txBody>
      </p:sp>
      <p:sp>
        <p:nvSpPr>
          <p:cNvPr id="9" name="Oval 8"/>
          <p:cNvSpPr/>
          <p:nvPr/>
        </p:nvSpPr>
        <p:spPr>
          <a:xfrm>
            <a:off x="685800" y="3438144"/>
            <a:ext cx="402336" cy="402336"/>
          </a:xfrm>
          <a:prstGeom prst="ellipse">
            <a:avLst/>
          </a:prstGeom>
          <a:solidFill>
            <a:srgbClr val="6D28D9"/>
          </a:solidFill>
          <a:ln>
            <a:noFill/>
          </a:ln>
        </p:spPr>
        <p:txBody>
          <a:bodyPr wrap="square" lIns="0" tIns="0" rIns="0" bIns="0" rtlCol="0" anchor="ctr">
            <a:noAutofit/>
          </a:bodyPr>
          <a:lstStyle/>
          <a:p>
            <a:pPr marL="0" indent="0" algn="ctr">
              <a:spcAft>
                <a:spcPts val="0"/>
              </a:spcAft>
              <a:buNone/>
            </a:pPr>
            <a:r>
              <a:rPr sz="1600" b="1" i="0">
                <a:solidFill>
                  <a:srgbClr val="FFFFFF"/>
                </a:solidFill>
                <a:latin typeface="Segoe UI Symbol"/>
              </a:rPr>
              <a:t>✓</a:t>
            </a:r>
          </a:p>
        </p:txBody>
      </p:sp>
      <p:sp>
        <p:nvSpPr>
          <p:cNvPr id="10" name="TextBox 9"/>
          <p:cNvSpPr txBox="1"/>
          <p:nvPr/>
        </p:nvSpPr>
        <p:spPr>
          <a:xfrm>
            <a:off x="1252728" y="3383279"/>
            <a:ext cx="4572000" cy="512064"/>
          </a:xfrm>
          <a:prstGeom prst="rect">
            <a:avLst/>
          </a:prstGeom>
          <a:noFill/>
        </p:spPr>
        <p:txBody>
          <a:bodyPr wrap="square" lIns="0" tIns="0" rIns="0" bIns="0" anchor="ctr">
            <a:noAutofit/>
          </a:bodyPr>
          <a:lstStyle/>
          <a:p>
            <a:pPr marL="0" indent="0" algn="l">
              <a:spcAft>
                <a:spcPts val="400"/>
              </a:spcAft>
              <a:buNone/>
            </a:pPr>
            <a:r>
              <a:rPr sz="1800" b="0" i="0">
                <a:solidFill>
                  <a:srgbClr val="14142B"/>
                </a:solidFill>
                <a:latin typeface="Calibri"/>
              </a:rPr>
              <a:t>Mock tool / API layer</a:t>
            </a:r>
          </a:p>
        </p:txBody>
      </p:sp>
      <p:sp>
        <p:nvSpPr>
          <p:cNvPr id="11" name="Oval 10"/>
          <p:cNvSpPr/>
          <p:nvPr/>
        </p:nvSpPr>
        <p:spPr>
          <a:xfrm>
            <a:off x="685800" y="4078224"/>
            <a:ext cx="402336" cy="402336"/>
          </a:xfrm>
          <a:prstGeom prst="ellipse">
            <a:avLst/>
          </a:prstGeom>
          <a:solidFill>
            <a:srgbClr val="6D28D9"/>
          </a:solidFill>
          <a:ln>
            <a:noFill/>
          </a:ln>
        </p:spPr>
        <p:txBody>
          <a:bodyPr wrap="square" lIns="0" tIns="0" rIns="0" bIns="0" rtlCol="0" anchor="ctr">
            <a:noAutofit/>
          </a:bodyPr>
          <a:lstStyle/>
          <a:p>
            <a:pPr marL="0" indent="0" algn="ctr">
              <a:spcAft>
                <a:spcPts val="0"/>
              </a:spcAft>
              <a:buNone/>
            </a:pPr>
            <a:r>
              <a:rPr sz="1600" b="1" i="0">
                <a:solidFill>
                  <a:srgbClr val="FFFFFF"/>
                </a:solidFill>
                <a:latin typeface="Segoe UI Symbol"/>
              </a:rPr>
              <a:t>✓</a:t>
            </a:r>
          </a:p>
        </p:txBody>
      </p:sp>
      <p:sp>
        <p:nvSpPr>
          <p:cNvPr id="12" name="TextBox 11"/>
          <p:cNvSpPr txBox="1"/>
          <p:nvPr/>
        </p:nvSpPr>
        <p:spPr>
          <a:xfrm>
            <a:off x="1252728" y="4023360"/>
            <a:ext cx="4572000" cy="512064"/>
          </a:xfrm>
          <a:prstGeom prst="rect">
            <a:avLst/>
          </a:prstGeom>
          <a:noFill/>
        </p:spPr>
        <p:txBody>
          <a:bodyPr wrap="square" lIns="0" tIns="0" rIns="0" bIns="0" anchor="ctr">
            <a:noAutofit/>
          </a:bodyPr>
          <a:lstStyle/>
          <a:p>
            <a:pPr marL="0" indent="0" algn="l">
              <a:spcAft>
                <a:spcPts val="400"/>
              </a:spcAft>
              <a:buNone/>
            </a:pPr>
            <a:r>
              <a:rPr sz="1800" b="0" i="0">
                <a:solidFill>
                  <a:srgbClr val="14142B"/>
                </a:solidFill>
                <a:latin typeface="Calibri"/>
              </a:rPr>
              <a:t>Benchmark integration</a:t>
            </a:r>
          </a:p>
        </p:txBody>
      </p:sp>
      <p:sp>
        <p:nvSpPr>
          <p:cNvPr id="13" name="Oval 12"/>
          <p:cNvSpPr/>
          <p:nvPr/>
        </p:nvSpPr>
        <p:spPr>
          <a:xfrm>
            <a:off x="685800" y="4718303"/>
            <a:ext cx="402336" cy="402336"/>
          </a:xfrm>
          <a:prstGeom prst="ellipse">
            <a:avLst/>
          </a:prstGeom>
          <a:solidFill>
            <a:srgbClr val="6D28D9"/>
          </a:solidFill>
          <a:ln>
            <a:noFill/>
          </a:ln>
        </p:spPr>
        <p:txBody>
          <a:bodyPr wrap="square" lIns="0" tIns="0" rIns="0" bIns="0" rtlCol="0" anchor="ctr">
            <a:noAutofit/>
          </a:bodyPr>
          <a:lstStyle/>
          <a:p>
            <a:pPr marL="0" indent="0" algn="ctr">
              <a:spcAft>
                <a:spcPts val="0"/>
              </a:spcAft>
              <a:buNone/>
            </a:pPr>
            <a:r>
              <a:rPr sz="1600" b="1" i="0">
                <a:solidFill>
                  <a:srgbClr val="FFFFFF"/>
                </a:solidFill>
                <a:latin typeface="Segoe UI Symbol"/>
              </a:rPr>
              <a:t>✓</a:t>
            </a:r>
          </a:p>
        </p:txBody>
      </p:sp>
      <p:sp>
        <p:nvSpPr>
          <p:cNvPr id="14" name="TextBox 13"/>
          <p:cNvSpPr txBox="1"/>
          <p:nvPr/>
        </p:nvSpPr>
        <p:spPr>
          <a:xfrm>
            <a:off x="1252728" y="4663440"/>
            <a:ext cx="4572000" cy="512064"/>
          </a:xfrm>
          <a:prstGeom prst="rect">
            <a:avLst/>
          </a:prstGeom>
          <a:noFill/>
        </p:spPr>
        <p:txBody>
          <a:bodyPr wrap="square" lIns="0" tIns="0" rIns="0" bIns="0" anchor="ctr">
            <a:noAutofit/>
          </a:bodyPr>
          <a:lstStyle/>
          <a:p>
            <a:pPr marL="0" indent="0" algn="l">
              <a:spcAft>
                <a:spcPts val="400"/>
              </a:spcAft>
              <a:buNone/>
            </a:pPr>
            <a:r>
              <a:rPr sz="1800" b="0" i="0">
                <a:solidFill>
                  <a:srgbClr val="14142B"/>
                </a:solidFill>
                <a:latin typeface="Calibri"/>
              </a:rPr>
              <a:t>One-command reproduction scripts</a:t>
            </a:r>
          </a:p>
        </p:txBody>
      </p:sp>
      <p:sp>
        <p:nvSpPr>
          <p:cNvPr id="15" name="Oval 14"/>
          <p:cNvSpPr/>
          <p:nvPr/>
        </p:nvSpPr>
        <p:spPr>
          <a:xfrm>
            <a:off x="6217920" y="1517904"/>
            <a:ext cx="402336" cy="402336"/>
          </a:xfrm>
          <a:prstGeom prst="ellipse">
            <a:avLst/>
          </a:prstGeom>
          <a:solidFill>
            <a:srgbClr val="6D28D9"/>
          </a:solidFill>
          <a:ln>
            <a:noFill/>
          </a:ln>
        </p:spPr>
        <p:txBody>
          <a:bodyPr wrap="square" lIns="0" tIns="0" rIns="0" bIns="0" rtlCol="0" anchor="ctr">
            <a:noAutofit/>
          </a:bodyPr>
          <a:lstStyle/>
          <a:p>
            <a:pPr marL="0" indent="0" algn="ctr">
              <a:spcAft>
                <a:spcPts val="0"/>
              </a:spcAft>
              <a:buNone/>
            </a:pPr>
            <a:r>
              <a:rPr sz="1600" b="1" i="0">
                <a:solidFill>
                  <a:srgbClr val="FFFFFF"/>
                </a:solidFill>
                <a:latin typeface="Segoe UI Symbol"/>
              </a:rPr>
              <a:t>✓</a:t>
            </a:r>
          </a:p>
        </p:txBody>
      </p:sp>
      <p:sp>
        <p:nvSpPr>
          <p:cNvPr id="16" name="TextBox 15"/>
          <p:cNvSpPr txBox="1"/>
          <p:nvPr/>
        </p:nvSpPr>
        <p:spPr>
          <a:xfrm>
            <a:off x="6784848" y="1463040"/>
            <a:ext cx="4572000" cy="512064"/>
          </a:xfrm>
          <a:prstGeom prst="rect">
            <a:avLst/>
          </a:prstGeom>
          <a:noFill/>
        </p:spPr>
        <p:txBody>
          <a:bodyPr wrap="square" lIns="0" tIns="0" rIns="0" bIns="0" anchor="ctr">
            <a:noAutofit/>
          </a:bodyPr>
          <a:lstStyle/>
          <a:p>
            <a:pPr marL="0" indent="0" algn="l">
              <a:spcAft>
                <a:spcPts val="400"/>
              </a:spcAft>
              <a:buNone/>
            </a:pPr>
            <a:r>
              <a:rPr sz="1800" b="0" i="0">
                <a:solidFill>
                  <a:srgbClr val="14142B"/>
                </a:solidFill>
                <a:latin typeface="Calibri"/>
              </a:rPr>
              <a:t>Evaluation metrics</a:t>
            </a:r>
          </a:p>
        </p:txBody>
      </p:sp>
      <p:sp>
        <p:nvSpPr>
          <p:cNvPr id="17" name="Oval 16"/>
          <p:cNvSpPr/>
          <p:nvPr/>
        </p:nvSpPr>
        <p:spPr>
          <a:xfrm>
            <a:off x="6217920" y="2157984"/>
            <a:ext cx="402336" cy="402336"/>
          </a:xfrm>
          <a:prstGeom prst="ellipse">
            <a:avLst/>
          </a:prstGeom>
          <a:solidFill>
            <a:srgbClr val="6D28D9"/>
          </a:solidFill>
          <a:ln>
            <a:noFill/>
          </a:ln>
        </p:spPr>
        <p:txBody>
          <a:bodyPr wrap="square" lIns="0" tIns="0" rIns="0" bIns="0" rtlCol="0" anchor="ctr">
            <a:noAutofit/>
          </a:bodyPr>
          <a:lstStyle/>
          <a:p>
            <a:pPr marL="0" indent="0" algn="ctr">
              <a:spcAft>
                <a:spcPts val="0"/>
              </a:spcAft>
              <a:buNone/>
            </a:pPr>
            <a:r>
              <a:rPr sz="1600" b="1" i="0">
                <a:solidFill>
                  <a:srgbClr val="FFFFFF"/>
                </a:solidFill>
                <a:latin typeface="Segoe UI Symbol"/>
              </a:rPr>
              <a:t>✓</a:t>
            </a:r>
          </a:p>
        </p:txBody>
      </p:sp>
      <p:sp>
        <p:nvSpPr>
          <p:cNvPr id="18" name="TextBox 17"/>
          <p:cNvSpPr txBox="1"/>
          <p:nvPr/>
        </p:nvSpPr>
        <p:spPr>
          <a:xfrm>
            <a:off x="6784848" y="2103120"/>
            <a:ext cx="4572000" cy="512064"/>
          </a:xfrm>
          <a:prstGeom prst="rect">
            <a:avLst/>
          </a:prstGeom>
          <a:noFill/>
        </p:spPr>
        <p:txBody>
          <a:bodyPr wrap="square" lIns="0" tIns="0" rIns="0" bIns="0" anchor="ctr">
            <a:noAutofit/>
          </a:bodyPr>
          <a:lstStyle/>
          <a:p>
            <a:pPr marL="0" indent="0" algn="l">
              <a:spcAft>
                <a:spcPts val="400"/>
              </a:spcAft>
              <a:buNone/>
            </a:pPr>
            <a:r>
              <a:rPr sz="1800" b="0" i="0">
                <a:solidFill>
                  <a:srgbClr val="14142B"/>
                </a:solidFill>
                <a:latin typeface="Calibri"/>
              </a:rPr>
              <a:t>Run logs</a:t>
            </a:r>
          </a:p>
        </p:txBody>
      </p:sp>
      <p:sp>
        <p:nvSpPr>
          <p:cNvPr id="19" name="Oval 18"/>
          <p:cNvSpPr/>
          <p:nvPr/>
        </p:nvSpPr>
        <p:spPr>
          <a:xfrm>
            <a:off x="6217920" y="2798064"/>
            <a:ext cx="402336" cy="402336"/>
          </a:xfrm>
          <a:prstGeom prst="ellipse">
            <a:avLst/>
          </a:prstGeom>
          <a:solidFill>
            <a:srgbClr val="6D28D9"/>
          </a:solidFill>
          <a:ln>
            <a:noFill/>
          </a:ln>
        </p:spPr>
        <p:txBody>
          <a:bodyPr wrap="square" lIns="0" tIns="0" rIns="0" bIns="0" rtlCol="0" anchor="ctr">
            <a:noAutofit/>
          </a:bodyPr>
          <a:lstStyle/>
          <a:p>
            <a:pPr marL="0" indent="0" algn="ctr">
              <a:spcAft>
                <a:spcPts val="0"/>
              </a:spcAft>
              <a:buNone/>
            </a:pPr>
            <a:r>
              <a:rPr sz="1600" b="1" i="0">
                <a:solidFill>
                  <a:srgbClr val="FFFFFF"/>
                </a:solidFill>
                <a:latin typeface="Segoe UI Symbol"/>
              </a:rPr>
              <a:t>✓</a:t>
            </a:r>
          </a:p>
        </p:txBody>
      </p:sp>
      <p:sp>
        <p:nvSpPr>
          <p:cNvPr id="20" name="TextBox 19"/>
          <p:cNvSpPr txBox="1"/>
          <p:nvPr/>
        </p:nvSpPr>
        <p:spPr>
          <a:xfrm>
            <a:off x="6784848" y="2743200"/>
            <a:ext cx="4572000" cy="512064"/>
          </a:xfrm>
          <a:prstGeom prst="rect">
            <a:avLst/>
          </a:prstGeom>
          <a:noFill/>
        </p:spPr>
        <p:txBody>
          <a:bodyPr wrap="square" lIns="0" tIns="0" rIns="0" bIns="0" anchor="ctr">
            <a:noAutofit/>
          </a:bodyPr>
          <a:lstStyle/>
          <a:p>
            <a:pPr marL="0" indent="0" algn="l">
              <a:spcAft>
                <a:spcPts val="400"/>
              </a:spcAft>
              <a:buNone/>
            </a:pPr>
            <a:r>
              <a:rPr sz="1800" b="0" i="0">
                <a:solidFill>
                  <a:srgbClr val="14142B"/>
                </a:solidFill>
                <a:latin typeface="Calibri"/>
              </a:rPr>
              <a:t>Architecture documentation</a:t>
            </a:r>
          </a:p>
        </p:txBody>
      </p:sp>
      <p:sp>
        <p:nvSpPr>
          <p:cNvPr id="21" name="Oval 20"/>
          <p:cNvSpPr/>
          <p:nvPr/>
        </p:nvSpPr>
        <p:spPr>
          <a:xfrm>
            <a:off x="6217920" y="3438144"/>
            <a:ext cx="402336" cy="402336"/>
          </a:xfrm>
          <a:prstGeom prst="ellipse">
            <a:avLst/>
          </a:prstGeom>
          <a:solidFill>
            <a:srgbClr val="6D28D9"/>
          </a:solidFill>
          <a:ln>
            <a:noFill/>
          </a:ln>
        </p:spPr>
        <p:txBody>
          <a:bodyPr wrap="square" lIns="0" tIns="0" rIns="0" bIns="0" rtlCol="0" anchor="ctr">
            <a:noAutofit/>
          </a:bodyPr>
          <a:lstStyle/>
          <a:p>
            <a:pPr marL="0" indent="0" algn="ctr">
              <a:spcAft>
                <a:spcPts val="0"/>
              </a:spcAft>
              <a:buNone/>
            </a:pPr>
            <a:r>
              <a:rPr lang="en-IN" sz="1600" b="1" i="0" dirty="0">
                <a:solidFill>
                  <a:srgbClr val="FFFFFF"/>
                </a:solidFill>
                <a:latin typeface="Segoe UI Symbol"/>
              </a:rPr>
              <a:t>✓</a:t>
            </a:r>
            <a:endParaRPr sz="1600" b="1" i="0" dirty="0">
              <a:solidFill>
                <a:srgbClr val="FFFFFF"/>
              </a:solidFill>
              <a:latin typeface="Segoe UI Symbol"/>
            </a:endParaRPr>
          </a:p>
        </p:txBody>
      </p:sp>
      <p:sp>
        <p:nvSpPr>
          <p:cNvPr id="22" name="TextBox 21"/>
          <p:cNvSpPr txBox="1"/>
          <p:nvPr/>
        </p:nvSpPr>
        <p:spPr>
          <a:xfrm>
            <a:off x="6784848" y="3383279"/>
            <a:ext cx="4572000" cy="512064"/>
          </a:xfrm>
          <a:prstGeom prst="rect">
            <a:avLst/>
          </a:prstGeom>
          <a:noFill/>
        </p:spPr>
        <p:txBody>
          <a:bodyPr wrap="square" lIns="0" tIns="0" rIns="0" bIns="0" anchor="ctr">
            <a:noAutofit/>
          </a:bodyPr>
          <a:lstStyle/>
          <a:p>
            <a:pPr marL="0" indent="0" algn="l">
              <a:spcAft>
                <a:spcPts val="400"/>
              </a:spcAft>
              <a:buNone/>
            </a:pPr>
            <a:r>
              <a:rPr sz="1800" b="0" i="0">
                <a:solidFill>
                  <a:srgbClr val="14142B"/>
                </a:solidFill>
                <a:latin typeface="Calibri"/>
              </a:rPr>
              <a:t>Demo material</a:t>
            </a:r>
          </a:p>
        </p:txBody>
      </p:sp>
      <p:sp>
        <p:nvSpPr>
          <p:cNvPr id="23" name="Oval 22"/>
          <p:cNvSpPr/>
          <p:nvPr/>
        </p:nvSpPr>
        <p:spPr>
          <a:xfrm>
            <a:off x="6217920" y="4078224"/>
            <a:ext cx="402336" cy="402336"/>
          </a:xfrm>
          <a:prstGeom prst="ellipse">
            <a:avLst/>
          </a:prstGeom>
          <a:solidFill>
            <a:srgbClr val="6D28D9"/>
          </a:solidFill>
          <a:ln>
            <a:noFill/>
          </a:ln>
        </p:spPr>
        <p:txBody>
          <a:bodyPr wrap="square" lIns="0" tIns="0" rIns="0" bIns="0" rtlCol="0" anchor="ctr">
            <a:noAutofit/>
          </a:bodyPr>
          <a:lstStyle/>
          <a:p>
            <a:pPr marL="0" indent="0" algn="ctr">
              <a:spcAft>
                <a:spcPts val="0"/>
              </a:spcAft>
              <a:buNone/>
            </a:pPr>
            <a:r>
              <a:rPr sz="1600" b="1" i="0">
                <a:solidFill>
                  <a:srgbClr val="FFFFFF"/>
                </a:solidFill>
                <a:latin typeface="Segoe UI Symbol"/>
              </a:rPr>
              <a:t>✓</a:t>
            </a:r>
          </a:p>
        </p:txBody>
      </p:sp>
      <p:sp>
        <p:nvSpPr>
          <p:cNvPr id="24" name="TextBox 23"/>
          <p:cNvSpPr txBox="1"/>
          <p:nvPr/>
        </p:nvSpPr>
        <p:spPr>
          <a:xfrm>
            <a:off x="6784848" y="4023360"/>
            <a:ext cx="4572000" cy="512064"/>
          </a:xfrm>
          <a:prstGeom prst="rect">
            <a:avLst/>
          </a:prstGeom>
          <a:noFill/>
        </p:spPr>
        <p:txBody>
          <a:bodyPr wrap="square" lIns="0" tIns="0" rIns="0" bIns="0" anchor="ctr">
            <a:noAutofit/>
          </a:bodyPr>
          <a:lstStyle/>
          <a:p>
            <a:pPr marL="0" indent="0" algn="l">
              <a:spcAft>
                <a:spcPts val="400"/>
              </a:spcAft>
              <a:buNone/>
            </a:pPr>
            <a:r>
              <a:rPr sz="1800" b="0" i="0">
                <a:solidFill>
                  <a:srgbClr val="14142B"/>
                </a:solidFill>
                <a:latin typeface="Calibri"/>
              </a:rPr>
              <a:t>Presentation</a:t>
            </a:r>
          </a:p>
        </p:txBody>
      </p:sp>
      <p:sp>
        <p:nvSpPr>
          <p:cNvPr id="25" name="Rounded Rectangle 24"/>
          <p:cNvSpPr/>
          <p:nvPr/>
        </p:nvSpPr>
        <p:spPr>
          <a:xfrm>
            <a:off x="548640" y="5486400"/>
            <a:ext cx="11091672" cy="731520"/>
          </a:xfrm>
          <a:prstGeom prst="roundRect">
            <a:avLst>
              <a:gd name="adj" fmla="val 12000"/>
            </a:avLst>
          </a:prstGeom>
          <a:solidFill>
            <a:srgbClr val="F5F2FD"/>
          </a:solidFill>
          <a:ln w="12700">
            <a:solidFill>
              <a:srgbClr val="D9D3F0"/>
            </a:solidFill>
          </a:ln>
        </p:spPr>
        <p:txBody>
          <a:bodyPr wrap="square" lIns="109728" tIns="54864" rIns="109728" bIns="54864" rtlCol="0" anchor="ctr">
            <a:noAutofit/>
          </a:bodyPr>
          <a:lstStyle/>
          <a:p>
            <a:pPr algn="ctr"/>
            <a:r>
              <a:rPr sz="2000" b="1" i="0" dirty="0">
                <a:solidFill>
                  <a:srgbClr val="6D28D9"/>
                </a:solidFill>
                <a:latin typeface="Arial"/>
              </a:rPr>
              <a:t>GitHub:  </a:t>
            </a:r>
            <a:r>
              <a:rPr lang="en-US" sz="2000" b="1" i="0" dirty="0">
                <a:solidFill>
                  <a:srgbClr val="6D28D9"/>
                </a:solidFill>
                <a:latin typeface="Arial"/>
              </a:rPr>
              <a:t>     </a:t>
            </a:r>
            <a:r>
              <a:rPr lang="en-IN" sz="2000" dirty="0">
                <a:solidFill>
                  <a:srgbClr val="14142B"/>
                </a:solidFill>
                <a:hlinkClick r:id="rId2"/>
              </a:rPr>
              <a:t>https://github.com/AnanthAkshay/Samsung_Gen_AI</a:t>
            </a:r>
            <a:endParaRPr sz="2000" b="0" i="0" dirty="0">
              <a:solidFill>
                <a:srgbClr val="14142B"/>
              </a:solidFill>
              <a:latin typeface="Calibri"/>
            </a:endParaRPr>
          </a:p>
        </p:txBody>
      </p:sp>
      <p:pic>
        <p:nvPicPr>
          <p:cNvPr id="27" name="Picture 26">
            <a:extLst>
              <a:ext uri="{FF2B5EF4-FFF2-40B4-BE49-F238E27FC236}">
                <a16:creationId xmlns:a16="http://schemas.microsoft.com/office/drawing/2014/main" id="{7D43A31B-C46D-ABC3-CA36-F380FB40A09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683242" y="5718976"/>
            <a:ext cx="276508" cy="276508"/>
          </a:xfrm>
          <a:prstGeom prst="rect">
            <a:avLst/>
          </a:prstGeom>
        </p:spPr>
      </p:pic>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77240" y="685800"/>
            <a:ext cx="10607040" cy="1005840"/>
          </a:xfrm>
          <a:prstGeom prst="rect">
            <a:avLst/>
          </a:prstGeom>
          <a:noFill/>
          <a:ln/>
        </p:spPr>
        <p:txBody>
          <a:bodyPr wrap="square" lIns="0" tIns="0" rIns="0" bIns="0" rtlCol="0" anchor="ctr">
            <a:noAutofit/>
          </a:bodyPr>
          <a:lstStyle/>
          <a:p>
            <a:pPr marL="0" indent="0" algn="l">
              <a:spcAft>
                <a:spcPts val="0"/>
              </a:spcAft>
              <a:buNone/>
            </a:pPr>
            <a:r>
              <a:rPr sz="5600" b="1" i="0">
                <a:solidFill>
                  <a:srgbClr val="14142B"/>
                </a:solidFill>
                <a:latin typeface="Arial"/>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
        <p:nvSpPr>
          <p:cNvPr id="29" name="TextBox 28"/>
          <p:cNvSpPr txBox="1"/>
          <p:nvPr/>
        </p:nvSpPr>
        <p:spPr>
          <a:xfrm>
            <a:off x="777240" y="1828800"/>
            <a:ext cx="10607040" cy="1280160"/>
          </a:xfrm>
          <a:prstGeom prst="rect">
            <a:avLst/>
          </a:prstGeom>
          <a:noFill/>
        </p:spPr>
        <p:txBody>
          <a:bodyPr wrap="square" lIns="0" tIns="0" rIns="0" bIns="0" anchor="ctr">
            <a:noAutofit/>
          </a:bodyPr>
          <a:lstStyle/>
          <a:p>
            <a:pPr marL="0" indent="0" algn="l">
              <a:spcAft>
                <a:spcPts val="0"/>
              </a:spcAft>
              <a:buNone/>
            </a:pPr>
            <a:r>
              <a:rPr sz="2800" b="1" i="0">
                <a:solidFill>
                  <a:srgbClr val="6D28D9"/>
                </a:solidFill>
                <a:latin typeface="Arial"/>
              </a:rPr>
              <a:t>REAL CONVERSATIONS ARE INTERRUPTIBLE.</a:t>
            </a:r>
          </a:p>
          <a:p>
            <a:pPr marL="0" indent="0" algn="l">
              <a:spcAft>
                <a:spcPts val="400"/>
              </a:spcAft>
              <a:buNone/>
            </a:pPr>
            <a:r>
              <a:rPr sz="2800" b="1" i="0">
                <a:solidFill>
                  <a:srgbClr val="6D28D9"/>
                </a:solidFill>
                <a:latin typeface="Arial"/>
              </a:rPr>
              <a:t>OUR AGENTS SHOULD BE TOO.</a:t>
            </a:r>
          </a:p>
        </p:txBody>
      </p:sp>
      <p:sp>
        <p:nvSpPr>
          <p:cNvPr id="30" name="TextBox 29"/>
          <p:cNvSpPr txBox="1"/>
          <p:nvPr/>
        </p:nvSpPr>
        <p:spPr>
          <a:xfrm>
            <a:off x="777240" y="3200400"/>
            <a:ext cx="10607040" cy="411480"/>
          </a:xfrm>
          <a:prstGeom prst="rect">
            <a:avLst/>
          </a:prstGeom>
          <a:noFill/>
        </p:spPr>
        <p:txBody>
          <a:bodyPr wrap="square" lIns="0" tIns="0" rIns="0" bIns="0" anchor="t">
            <a:noAutofit/>
          </a:bodyPr>
          <a:lstStyle/>
          <a:p>
            <a:pPr marL="0" indent="0" algn="l">
              <a:spcAft>
                <a:spcPts val="400"/>
              </a:spcAft>
              <a:buNone/>
            </a:pPr>
            <a:r>
              <a:rPr sz="1800" b="1" i="0">
                <a:solidFill>
                  <a:srgbClr val="14142B"/>
                </a:solidFill>
                <a:latin typeface="Arial"/>
              </a:rPr>
              <a:t>Theme 05 — Interruptible Real-Time Agents</a:t>
            </a:r>
          </a:p>
        </p:txBody>
      </p:sp>
      <p:sp>
        <p:nvSpPr>
          <p:cNvPr id="31" name="Rounded Rectangle 30"/>
          <p:cNvSpPr/>
          <p:nvPr/>
        </p:nvSpPr>
        <p:spPr>
          <a:xfrm>
            <a:off x="777240" y="3931919"/>
            <a:ext cx="2075688" cy="1244379"/>
          </a:xfrm>
          <a:prstGeom prst="roundRect">
            <a:avLst>
              <a:gd name="adj" fmla="val 6000"/>
            </a:avLst>
          </a:prstGeom>
          <a:solidFill>
            <a:srgbClr val="F5F2FD"/>
          </a:solidFill>
          <a:ln w="12700">
            <a:solidFill>
              <a:srgbClr val="D9D3F0"/>
            </a:solidFill>
          </a:ln>
        </p:spPr>
        <p:txBody>
          <a:bodyPr wrap="square" lIns="164592" tIns="137160" rIns="164592" bIns="137160" rtlCol="0" anchor="t">
            <a:noAutofit/>
          </a:bodyPr>
          <a:lstStyle/>
          <a:p>
            <a:pPr marL="0" indent="0" algn="l">
              <a:spcAft>
                <a:spcPts val="600"/>
              </a:spcAft>
              <a:buNone/>
            </a:pPr>
            <a:r>
              <a:rPr sz="1100" b="1" i="0" dirty="0">
                <a:solidFill>
                  <a:srgbClr val="6D28D9"/>
                </a:solidFill>
                <a:latin typeface="Arial"/>
              </a:rPr>
              <a:t>TEAM</a:t>
            </a:r>
          </a:p>
          <a:p>
            <a:pPr marL="0" indent="0" algn="l">
              <a:spcAft>
                <a:spcPts val="400"/>
              </a:spcAft>
              <a:buNone/>
            </a:pPr>
            <a:r>
              <a:rPr lang="en-US" sz="1400" b="0" i="0" dirty="0">
                <a:solidFill>
                  <a:srgbClr val="14142B"/>
                </a:solidFill>
                <a:latin typeface="Calibri"/>
              </a:rPr>
              <a:t>Cache_Me</a:t>
            </a:r>
            <a:endParaRPr sz="1400" b="0" i="0" dirty="0">
              <a:solidFill>
                <a:srgbClr val="14142B"/>
              </a:solidFill>
              <a:latin typeface="Calibri"/>
            </a:endParaRPr>
          </a:p>
        </p:txBody>
      </p:sp>
      <p:sp>
        <p:nvSpPr>
          <p:cNvPr id="32" name="Rounded Rectangle 31"/>
          <p:cNvSpPr/>
          <p:nvPr/>
        </p:nvSpPr>
        <p:spPr>
          <a:xfrm>
            <a:off x="3001518" y="3931920"/>
            <a:ext cx="2075688" cy="1244378"/>
          </a:xfrm>
          <a:prstGeom prst="roundRect">
            <a:avLst>
              <a:gd name="adj" fmla="val 6000"/>
            </a:avLst>
          </a:prstGeom>
          <a:solidFill>
            <a:srgbClr val="F5F2FD"/>
          </a:solidFill>
          <a:ln w="12700">
            <a:solidFill>
              <a:srgbClr val="D9D3F0"/>
            </a:solidFill>
          </a:ln>
        </p:spPr>
        <p:txBody>
          <a:bodyPr wrap="square" lIns="164592" tIns="137160" rIns="164592" bIns="137160" rtlCol="0" anchor="t">
            <a:noAutofit/>
          </a:bodyPr>
          <a:lstStyle/>
          <a:p>
            <a:pPr marL="0" indent="0" algn="l">
              <a:spcAft>
                <a:spcPts val="600"/>
              </a:spcAft>
              <a:buNone/>
            </a:pPr>
            <a:r>
              <a:rPr sz="1100" b="1" i="0" dirty="0">
                <a:solidFill>
                  <a:srgbClr val="6D28D9"/>
                </a:solidFill>
                <a:latin typeface="Arial"/>
              </a:rPr>
              <a:t>COLLEGE</a:t>
            </a:r>
          </a:p>
          <a:p>
            <a:pPr marL="0" indent="0" algn="l">
              <a:spcAft>
                <a:spcPts val="400"/>
              </a:spcAft>
              <a:buNone/>
            </a:pPr>
            <a:r>
              <a:rPr sz="1400" b="0" i="0" dirty="0">
                <a:solidFill>
                  <a:srgbClr val="14142B"/>
                </a:solidFill>
                <a:latin typeface="Calibri"/>
              </a:rPr>
              <a:t>M. S. Ramaiah Institute of Technology</a:t>
            </a:r>
            <a:r>
              <a:rPr lang="en-US" sz="1400" b="0" i="0" dirty="0">
                <a:solidFill>
                  <a:srgbClr val="14142B"/>
                </a:solidFill>
                <a:latin typeface="Calibri"/>
              </a:rPr>
              <a:t> (MSRIT)</a:t>
            </a:r>
            <a:endParaRPr sz="1400" b="0" i="0" dirty="0">
              <a:solidFill>
                <a:srgbClr val="14142B"/>
              </a:solidFill>
              <a:latin typeface="Calibri"/>
            </a:endParaRPr>
          </a:p>
        </p:txBody>
      </p:sp>
      <p:sp>
        <p:nvSpPr>
          <p:cNvPr id="33" name="Rounded Rectangle 32"/>
          <p:cNvSpPr/>
          <p:nvPr/>
        </p:nvSpPr>
        <p:spPr>
          <a:xfrm>
            <a:off x="5225796" y="3931920"/>
            <a:ext cx="2075688" cy="1244378"/>
          </a:xfrm>
          <a:prstGeom prst="roundRect">
            <a:avLst>
              <a:gd name="adj" fmla="val 6000"/>
            </a:avLst>
          </a:prstGeom>
          <a:solidFill>
            <a:srgbClr val="F5F2FD"/>
          </a:solidFill>
          <a:ln w="12700">
            <a:solidFill>
              <a:srgbClr val="D9D3F0"/>
            </a:solidFill>
          </a:ln>
        </p:spPr>
        <p:txBody>
          <a:bodyPr wrap="square" lIns="164592" tIns="137160" rIns="164592" bIns="137160" rtlCol="0" anchor="t">
            <a:noAutofit/>
          </a:bodyPr>
          <a:lstStyle/>
          <a:p>
            <a:pPr marL="0" indent="0" algn="l">
              <a:spcAft>
                <a:spcPts val="600"/>
              </a:spcAft>
              <a:buNone/>
            </a:pPr>
            <a:r>
              <a:rPr sz="1100" b="1" i="0" dirty="0">
                <a:solidFill>
                  <a:srgbClr val="6D28D9"/>
                </a:solidFill>
                <a:latin typeface="Arial"/>
              </a:rPr>
              <a:t>GITHUB</a:t>
            </a:r>
          </a:p>
          <a:p>
            <a:pPr>
              <a:spcAft>
                <a:spcPts val="400"/>
              </a:spcAft>
            </a:pPr>
            <a:r>
              <a:rPr lang="en-IN" sz="1400" dirty="0">
                <a:solidFill>
                  <a:srgbClr val="14142B"/>
                </a:solidFill>
                <a:hlinkClick r:id="rId3"/>
              </a:rPr>
              <a:t>https://github.com/AnanthAkshay/Samsung_Gen_AI</a:t>
            </a:r>
            <a:endParaRPr sz="1400" b="0" i="0" dirty="0">
              <a:solidFill>
                <a:srgbClr val="14142B"/>
              </a:solidFill>
              <a:latin typeface="Calibri"/>
            </a:endParaRPr>
          </a:p>
        </p:txBody>
      </p:sp>
      <p:sp>
        <p:nvSpPr>
          <p:cNvPr id="34" name="Rounded Rectangle 33"/>
          <p:cNvSpPr/>
          <p:nvPr/>
        </p:nvSpPr>
        <p:spPr>
          <a:xfrm>
            <a:off x="7450074" y="3931920"/>
            <a:ext cx="2075688" cy="1244378"/>
          </a:xfrm>
          <a:prstGeom prst="roundRect">
            <a:avLst>
              <a:gd name="adj" fmla="val 6000"/>
            </a:avLst>
          </a:prstGeom>
          <a:solidFill>
            <a:srgbClr val="F5F2FD"/>
          </a:solidFill>
          <a:ln w="12700">
            <a:solidFill>
              <a:srgbClr val="D9D3F0"/>
            </a:solidFill>
          </a:ln>
        </p:spPr>
        <p:txBody>
          <a:bodyPr wrap="square" lIns="164592" tIns="137160" rIns="164592" bIns="137160" rtlCol="0" anchor="t">
            <a:noAutofit/>
          </a:bodyPr>
          <a:lstStyle/>
          <a:p>
            <a:pPr marL="0" indent="0" algn="l">
              <a:spcAft>
                <a:spcPts val="600"/>
              </a:spcAft>
              <a:buNone/>
            </a:pPr>
            <a:r>
              <a:rPr sz="1100" b="1" i="0" dirty="0">
                <a:solidFill>
                  <a:srgbClr val="6D28D9"/>
                </a:solidFill>
                <a:latin typeface="Arial"/>
              </a:rPr>
              <a:t>DEMO</a:t>
            </a:r>
            <a:endParaRPr lang="en-US" sz="1100" b="1" i="0" dirty="0">
              <a:solidFill>
                <a:srgbClr val="6D28D9"/>
              </a:solidFill>
              <a:latin typeface="Arial"/>
            </a:endParaRPr>
          </a:p>
          <a:p>
            <a:pPr>
              <a:spcAft>
                <a:spcPts val="600"/>
              </a:spcAft>
            </a:pPr>
            <a:r>
              <a:rPr lang="en-IN" sz="1300" dirty="0">
                <a:latin typeface="Calibri" panose="020F0502020204030204" pitchFamily="34" charset="0"/>
                <a:ea typeface="Calibri" panose="020F0502020204030204" pitchFamily="34" charset="0"/>
                <a:cs typeface="Calibri" panose="020F0502020204030204" pitchFamily="34" charset="0"/>
                <a:hlinkClick r:id="rId4"/>
              </a:rPr>
              <a:t>https://drive.google.com/file/d/1fhPArrnkYnQcePrer0aPq9YrS7Pu4-22/view?usp=drivesdk</a:t>
            </a:r>
            <a:endParaRPr sz="1300" i="0" dirty="0">
              <a:latin typeface="Calibri" panose="020F0502020204030204" pitchFamily="34" charset="0"/>
              <a:ea typeface="Calibri" panose="020F0502020204030204" pitchFamily="34" charset="0"/>
              <a:cs typeface="Calibri" panose="020F0502020204030204" pitchFamily="34" charset="0"/>
            </a:endParaRPr>
          </a:p>
        </p:txBody>
      </p:sp>
      <p:sp>
        <p:nvSpPr>
          <p:cNvPr id="35" name="Rounded Rectangle 34"/>
          <p:cNvSpPr/>
          <p:nvPr/>
        </p:nvSpPr>
        <p:spPr>
          <a:xfrm>
            <a:off x="9674352" y="3931920"/>
            <a:ext cx="2075688" cy="1244378"/>
          </a:xfrm>
          <a:prstGeom prst="roundRect">
            <a:avLst>
              <a:gd name="adj" fmla="val 6000"/>
            </a:avLst>
          </a:prstGeom>
          <a:solidFill>
            <a:srgbClr val="F5F2FD"/>
          </a:solidFill>
          <a:ln w="12700">
            <a:solidFill>
              <a:srgbClr val="D9D3F0"/>
            </a:solidFill>
          </a:ln>
        </p:spPr>
        <p:txBody>
          <a:bodyPr wrap="square" lIns="164592" tIns="137160" rIns="164592" bIns="137160" rtlCol="0" anchor="t">
            <a:noAutofit/>
          </a:bodyPr>
          <a:lstStyle/>
          <a:p>
            <a:pPr marL="0" indent="0" algn="l">
              <a:spcAft>
                <a:spcPts val="600"/>
              </a:spcAft>
              <a:buNone/>
            </a:pPr>
            <a:r>
              <a:rPr sz="1100" b="1" i="0" dirty="0">
                <a:solidFill>
                  <a:srgbClr val="6D28D9"/>
                </a:solidFill>
                <a:latin typeface="Arial"/>
              </a:rPr>
              <a:t>CONTACT</a:t>
            </a:r>
          </a:p>
          <a:p>
            <a:pPr marL="0" indent="0" algn="l">
              <a:spcAft>
                <a:spcPts val="400"/>
              </a:spcAft>
              <a:buNone/>
            </a:pPr>
            <a:r>
              <a:rPr lang="en-US" sz="1400" b="0" i="0" dirty="0">
                <a:solidFill>
                  <a:srgbClr val="14142B"/>
                </a:solidFill>
                <a:latin typeface="Calibri"/>
                <a:hlinkClick r:id="rId5"/>
              </a:rPr>
              <a:t>1ms24is013@msrit.edu</a:t>
            </a:r>
            <a:endParaRPr sz="1400" b="0" i="0" dirty="0">
              <a:solidFill>
                <a:srgbClr val="14142B"/>
              </a:solidFill>
              <a:latin typeface="Calibri"/>
            </a:endParaRPr>
          </a:p>
        </p:txBody>
      </p:sp>
      <p:pic>
        <p:nvPicPr>
          <p:cNvPr id="4" name="Picture 3">
            <a:extLst>
              <a:ext uri="{FF2B5EF4-FFF2-40B4-BE49-F238E27FC236}">
                <a16:creationId xmlns:a16="http://schemas.microsoft.com/office/drawing/2014/main" id="{FDF17CC2-FFCC-5B06-5E32-6B106226834F}"/>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6009529" y="4073055"/>
            <a:ext cx="172941" cy="172941"/>
          </a:xfrm>
          <a:prstGeom prst="rect">
            <a:avLst/>
          </a:prstGeom>
        </p:spPr>
      </p:pic>
      <p:pic>
        <p:nvPicPr>
          <p:cNvPr id="7" name="Picture 6">
            <a:extLst>
              <a:ext uri="{FF2B5EF4-FFF2-40B4-BE49-F238E27FC236}">
                <a16:creationId xmlns:a16="http://schemas.microsoft.com/office/drawing/2014/main" id="{4AAEE469-2B93-405B-3014-A3012C415AEA}"/>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8145536" y="4073055"/>
            <a:ext cx="196377" cy="1759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126</TotalTime>
  <Words>1058</Words>
  <Application>Microsoft Office PowerPoint</Application>
  <PresentationFormat>Widescreen</PresentationFormat>
  <Paragraphs>237</Paragraphs>
  <Slides>12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Consolas</vt:lpstr>
      <vt:lpstr>Segoe UI Emoji</vt:lpstr>
      <vt:lpstr>Segoe UI Symbol</vt:lpstr>
      <vt:lpstr>Office Theme</vt:lpstr>
      <vt:lpstr>PowerPoint Presentation</vt:lpstr>
      <vt:lpstr>THEME 05 — INTERRUPTIBLE REAL-TIME AGENTS</vt:lpstr>
      <vt:lpstr>EXISTING APPROACHES BREAK THE CONVERSATION LOOP</vt:lpstr>
      <vt:lpstr>OUR SOLUTION — NATIVE REALTIME TOOL AGENT</vt:lpstr>
      <vt:lpstr>WHEN THE USER CHANGES THEIR MIND</vt:lpstr>
      <vt:lpstr>TOOLS &amp; TECH STACK</vt:lpstr>
      <vt:lpstr>WHERE INTERRUPTIBLE VOICE AGENTS MATTER</vt:lpstr>
      <vt:lpstr>INNOVATION, RESULTS &amp; LIMITATIONS</vt:lpstr>
      <vt:lpstr>WHAT’S NEXT</vt:lpstr>
      <vt:lpstr>WHY THIS APPROACH IS DIFFERENT</vt:lpstr>
      <vt:lpstr>CHECKLIST —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H M Pranav</cp:lastModifiedBy>
  <cp:revision>8</cp:revision>
  <dcterms:created xsi:type="dcterms:W3CDTF">2026-09-07T12:01:01Z</dcterms:created>
  <dcterms:modified xsi:type="dcterms:W3CDTF">2026-09-30T20:46:05Z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